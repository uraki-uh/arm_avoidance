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元資料: ../designs/fuzzy_grasp_input_design.md。現行HTMLの試作ルールと今後のROSルール設計の区別。所属度は把持成功確率ではない。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幾何学的候補生成とファジィ採点の分離。現行ROSのshape_scoreはファジィスコアではない。環境ノード、把持候補、目標GNGノードのID対応が必要。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OUTSIDEは現行マップ外であり数学的な到達不能の証明ではない。意図的な指と物体の接触は、禁止する環境衝突と別定義。無効化した判定を成立と扱わない。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開口余裕＝物理的最大開口−閉じ方向の必要幅−クリアランス。グラフは概念図で数値パラメータの提案ではない。肩型関数の端点をテスト。全入力への一律な候補間min-max正規化は避ける案。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詳細: ../designs/fuzzy_grasp_input_design.md。初期AND=min、OR=max、出力代表値の加重平均などは方式の候補で未確定。全ルール非発火を自動高評価にしない。品質点と実行・保留の行動選択は分離。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521207"/>
            <a:ext cx="685800" cy="73152"/>
          </a:xfrm>
          <a:prstGeom prst="rect">
            <a:avLst/>
          </a:prstGeom>
          <a:solidFill>
            <a:srgbClr val="31C8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6576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600" b="0">
                <a:solidFill>
                  <a:srgbClr val="B9D4E5"/>
                </a:solidFill>
                <a:latin typeface="Noto Sans CJK JP"/>
              </a:defRPr>
            </a:pPr>
            <a:r>
              <a:rPr>
                <a:ea typeface="Noto Sans CJK JP"/>
              </a:rPr>
              <a:t>ToPo-FUZZY  /  ROS把持評価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517904"/>
            <a:ext cx="10972800" cy="1645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4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つかみやすさを、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4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ルールで説明する。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3337560"/>
            <a:ext cx="10789920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300" b="0">
                <a:solidFill>
                  <a:srgbClr val="C9DEE9"/>
                </a:solidFill>
                <a:latin typeface="Noto Sans CJK JP"/>
              </a:defRPr>
            </a:pPr>
            <a:r>
              <a:rPr>
                <a:ea typeface="Noto Sans CJK JP"/>
              </a:rPr>
              <a:t>入力情報・制約・ファジィ集合の設計案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4315968"/>
            <a:ext cx="3355848" cy="1216152"/>
          </a:xfrm>
          <a:prstGeom prst="rect">
            <a:avLst/>
          </a:prstGeom>
          <a:solidFill>
            <a:srgbClr val="1D3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471416"/>
            <a:ext cx="502920" cy="2743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1">
                <a:solidFill>
                  <a:srgbClr val="31C8B7"/>
                </a:solidFill>
                <a:latin typeface="Noto Sans CJK JP"/>
              </a:defRPr>
            </a:pPr>
            <a:r>
              <a:rPr>
                <a:ea typeface="Noto Sans CJK JP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791456"/>
            <a:ext cx="3017520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7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形状を信用できるか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212080"/>
            <a:ext cx="3017520" cy="2377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0">
                <a:solidFill>
                  <a:srgbClr val="B9D4E5"/>
                </a:solidFill>
                <a:latin typeface="Noto Sans CJK JP"/>
              </a:defRPr>
            </a:pPr>
            <a:r>
              <a:rPr>
                <a:ea typeface="Noto Sans CJK JP"/>
              </a:rPr>
              <a:t>観測・形状の信頼度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4315968"/>
            <a:ext cx="3355848" cy="1216152"/>
          </a:xfrm>
          <a:prstGeom prst="rect">
            <a:avLst/>
          </a:prstGeom>
          <a:solidFill>
            <a:srgbClr val="1D3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471416"/>
            <a:ext cx="502920" cy="2743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1">
                <a:solidFill>
                  <a:srgbClr val="71ABF2"/>
                </a:solidFill>
                <a:latin typeface="Noto Sans CJK JP"/>
              </a:defRPr>
            </a:pPr>
            <a:r>
              <a:rPr>
                <a:ea typeface="Noto Sans CJK JP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791456"/>
            <a:ext cx="3017520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7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そこでつかめるか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212080"/>
            <a:ext cx="3017520" cy="2377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0">
                <a:solidFill>
                  <a:srgbClr val="B9D4E5"/>
                </a:solidFill>
                <a:latin typeface="Noto Sans CJK JP"/>
              </a:defRPr>
            </a:pPr>
            <a:r>
              <a:rPr>
                <a:ea typeface="Noto Sans CJK JP"/>
              </a:rPr>
              <a:t>候補部位の把持品質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4315968"/>
            <a:ext cx="3355848" cy="1216152"/>
          </a:xfrm>
          <a:prstGeom prst="rect">
            <a:avLst/>
          </a:prstGeom>
          <a:solidFill>
            <a:srgbClr val="1D3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4471416"/>
            <a:ext cx="502920" cy="2743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1">
                <a:solidFill>
                  <a:srgbClr val="EDBA73"/>
                </a:solidFill>
                <a:latin typeface="Noto Sans CJK JP"/>
              </a:defRPr>
            </a:pPr>
            <a:r>
              <a:rPr>
                <a:ea typeface="Noto Sans CJK JP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4791456"/>
            <a:ext cx="3017520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7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無理なく届くか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5212080"/>
            <a:ext cx="3017520" cy="2377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0">
                <a:solidFill>
                  <a:srgbClr val="B9D4E5"/>
                </a:solidFill>
                <a:latin typeface="Noto Sans CJK JP"/>
              </a:defRPr>
            </a:pPr>
            <a:r>
              <a:rPr>
                <a:ea typeface="Noto Sans CJK JP"/>
              </a:rPr>
              <a:t>アーム・経路の品質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6236208"/>
            <a:ext cx="484632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100" b="0">
                <a:solidFill>
                  <a:srgbClr val="B9D4E5"/>
                </a:solidFill>
                <a:latin typeface="Noto Sans CJK JP"/>
              </a:defRPr>
            </a:pPr>
            <a:r>
              <a:rPr>
                <a:ea typeface="Noto Sans CJK JP"/>
              </a:rPr>
              <a:t>相談用ドラフト  •  2026.09.14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236208"/>
            <a:ext cx="5010912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  <a:defRPr sz="1100" b="0">
                <a:solidFill>
                  <a:srgbClr val="B9D4E5"/>
                </a:solidFill>
                <a:latin typeface="Noto Sans CJK JP"/>
              </a:defRPr>
            </a:pPr>
            <a:r>
              <a:rPr>
                <a:ea typeface="Noto Sans CJK JP"/>
              </a:rPr>
              <a:t>現行ROSには未接続／数値境界は未確定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5603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ToPo-FUZZY  /  ROS把持評価の設計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5394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9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候補は幾何で生成し、ルールで比較する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80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5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環境形状GNGとロボット関節配置GNGは、役割もノードIDも別。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19088"/>
            <a:ext cx="11128248" cy="0"/>
          </a:xfrm>
          <a:prstGeom prst="line">
            <a:avLst/>
          </a:prstGeom>
          <a:ln w="19050">
            <a:solidFill>
              <a:srgbClr val="DCE5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37960"/>
            <a:ext cx="10515600" cy="18288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85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2026.09.14  •  相談用ドラフト｜設計案：fuzzy_grasp_input_design.md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758952" cy="2377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02 / 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993392"/>
            <a:ext cx="3035808" cy="1252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1993392"/>
            <a:ext cx="64008" cy="1252728"/>
          </a:xfrm>
          <a:prstGeom prst="rect">
            <a:avLst/>
          </a:prstGeom>
          <a:solidFill>
            <a:srgbClr val="00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2139696"/>
            <a:ext cx="2697480" cy="36576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8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環境形状GNG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587752"/>
            <a:ext cx="2697480" cy="53035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ノード：3D位置・法線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辺：形状上の近傍接続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3602736"/>
            <a:ext cx="3035808" cy="1252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3602736"/>
            <a:ext cx="64008" cy="1252728"/>
          </a:xfrm>
          <a:prstGeom prst="rect">
            <a:avLst/>
          </a:prstGeom>
          <a:solidFill>
            <a:srgbClr val="316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3749039"/>
            <a:ext cx="2697480" cy="36576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800" b="1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ロボット関節配置GNG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4197096"/>
            <a:ext cx="2697480" cy="53035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ノード：関節配置とTCP姿勢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辺：配置間の接続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2395728"/>
            <a:ext cx="457200" cy="4572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500" b="0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3995928"/>
            <a:ext cx="457200" cy="4572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500" b="0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1993392"/>
            <a:ext cx="3401568" cy="1252728"/>
          </a:xfrm>
          <a:prstGeom prst="rect">
            <a:avLst/>
          </a:prstGeom>
          <a:solidFill>
            <a:srgbClr val="E1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2139696"/>
            <a:ext cx="3063240" cy="33832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9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候補手先位置・姿勢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706624"/>
            <a:ext cx="3063240" cy="36576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観測信頼度＋把持品質の評価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3282696"/>
            <a:ext cx="4389120" cy="26517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↓ 候補ごとに関節配置へ対応付け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602736"/>
            <a:ext cx="3401568" cy="1252728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749039"/>
            <a:ext cx="3063240" cy="33832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900" b="1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関節配置・経路候補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315968"/>
            <a:ext cx="3063240" cy="36576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成立確認＋実現品質の評価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662672" y="2615184"/>
            <a:ext cx="329184" cy="0"/>
          </a:xfrm>
          <a:prstGeom prst="line">
            <a:avLst/>
          </a:prstGeom>
          <a:ln w="19050">
            <a:solidFill>
              <a:srgbClr val="6076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91856" y="2615184"/>
            <a:ext cx="0" cy="1609344"/>
          </a:xfrm>
          <a:prstGeom prst="line">
            <a:avLst/>
          </a:prstGeom>
          <a:ln w="19050">
            <a:solidFill>
              <a:srgbClr val="6076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62672" y="4224528"/>
            <a:ext cx="329184" cy="0"/>
          </a:xfrm>
          <a:prstGeom prst="line">
            <a:avLst/>
          </a:prstGeom>
          <a:ln w="19050">
            <a:solidFill>
              <a:srgbClr val="6076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065008" y="3246120"/>
            <a:ext cx="457200" cy="4572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5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59368" y="2423160"/>
            <a:ext cx="2999232" cy="1984248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97112" y="2679192"/>
            <a:ext cx="2468880" cy="4572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最終判断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97112" y="3364992"/>
            <a:ext cx="2468880" cy="77724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900" b="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候補の選択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900" b="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保留・追加観測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5751576"/>
            <a:ext cx="11128248" cy="484632"/>
          </a:xfrm>
          <a:prstGeom prst="rect">
            <a:avLst/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861304"/>
            <a:ext cx="10789920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設計案：同じ物体でも部位ごと、同じ手先姿勢でもアーム姿勢ごとに評価を保持。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5603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ToPo-FUZZY  /  ROS把持評価の設計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5394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9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入力①  形状をどこまで信用できるか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80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5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物体全体だけでなく、接触する部位と指が進入する領域を評価。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19088"/>
            <a:ext cx="11128248" cy="0"/>
          </a:xfrm>
          <a:prstGeom prst="line">
            <a:avLst/>
          </a:prstGeom>
          <a:ln w="19050">
            <a:solidFill>
              <a:srgbClr val="DCE5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37960"/>
            <a:ext cx="10515600" cy="18288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85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2026.09.14  •  相談用ドラフト｜設計案：fuzzy_grasp_input_design.md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758952" cy="2377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03 / 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938528"/>
            <a:ext cx="11128248" cy="393192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011680"/>
            <a:ext cx="2212848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入力情報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2011680"/>
            <a:ext cx="1591056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取得状況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2011680"/>
            <a:ext cx="2724912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量・単位／取得元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011680"/>
            <a:ext cx="3575304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ファジィ集合と注意点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368296"/>
            <a:ext cx="11128248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468879"/>
            <a:ext cx="2212848" cy="4663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6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局所GNG支持数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81528" y="2505456"/>
            <a:ext cx="1481328" cy="338328"/>
          </a:xfrm>
          <a:prstGeom prst="rect">
            <a:avLst/>
          </a:prstGeom>
          <a:solidFill>
            <a:srgbClr val="E1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36392" y="2542032"/>
            <a:ext cx="137160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A  出力あり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2441448"/>
            <a:ext cx="2724912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候補内のノード数［個］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summary：node_count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441448"/>
            <a:ext cx="3575304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少・中・多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元点群密度とは別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2999232"/>
            <a:ext cx="11128248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3099815"/>
            <a:ext cx="2212848" cy="4663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6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元点群の支持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81528" y="3136391"/>
            <a:ext cx="1481328" cy="338328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36392" y="3172968"/>
            <a:ext cx="137160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B  加工・連携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3072384"/>
            <a:ext cx="2724912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対応点数・支持密度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inpcl_ids等から候補集計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072384"/>
            <a:ext cx="3575304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弱・中・強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同一フレーム／重複除去が必要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3630168"/>
            <a:ext cx="11128248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730752"/>
            <a:ext cx="2212848" cy="4663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6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形状当てはめ残差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81528" y="3767328"/>
            <a:ext cx="1481328" cy="338328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36392" y="3803904"/>
            <a:ext cx="137160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B  加工・連携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3703320"/>
            <a:ext cx="2724912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位置残差RMS［m］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平面・曲面パッチに元情報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703320"/>
            <a:ext cx="3575304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小・中・大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対象に合うモデルの残差を使用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4261104"/>
            <a:ext cx="11128248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361688"/>
            <a:ext cx="2212848" cy="4663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6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時間的な安定性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81528" y="4398264"/>
            <a:ext cx="1481328" cy="338328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36392" y="4434840"/>
            <a:ext cx="137160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B  加工・連携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8888" y="4334256"/>
            <a:ext cx="2724912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検出・欠落・形状変動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候補追跡から履歴を集計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334256"/>
            <a:ext cx="3575304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不安定・中・安定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移動物体とノイズを区別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4892040"/>
            <a:ext cx="11128248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" y="4992624"/>
            <a:ext cx="2212848" cy="4663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6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未観測領域の割合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81528" y="5029200"/>
            <a:ext cx="1481328" cy="338328"/>
          </a:xfrm>
          <a:prstGeom prst="rect">
            <a:avLst/>
          </a:prstGeom>
          <a:solidFill>
            <a:srgbClr val="FF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36392" y="5065776"/>
            <a:ext cx="137160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B66B10"/>
                </a:solidFill>
                <a:latin typeface="Noto Sans CJK JP"/>
              </a:defRPr>
            </a:pPr>
            <a:r>
              <a:rPr>
                <a:ea typeface="Noto Sans CJK JP"/>
              </a:rPr>
              <a:t>C  追加実装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18888" y="4965192"/>
            <a:ext cx="2724912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接触／進入領域の未観測率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境界証拠の元情報は一部あり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4965192"/>
            <a:ext cx="3575304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小・中・大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境界証拠だけで体積を判定しない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" y="5751576"/>
            <a:ext cx="11128248" cy="484632"/>
          </a:xfrm>
          <a:prstGeom prst="rect">
            <a:avLst/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861304"/>
            <a:ext cx="10789920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「未観測」は「形状が悪い」と別。低い値に置換せず、有効性と保留理由を保持。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5603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ToPo-FUZZY  /  ROS把持評価の設計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5394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9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入力②  その部位をつかみやすいか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80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5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物理的なハンド仕様と、候補の閉じ方向・接触形状を組み合わせる。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19088"/>
            <a:ext cx="11128248" cy="0"/>
          </a:xfrm>
          <a:prstGeom prst="line">
            <a:avLst/>
          </a:prstGeom>
          <a:ln w="19050">
            <a:solidFill>
              <a:srgbClr val="DCE5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37960"/>
            <a:ext cx="10515600" cy="18288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85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2026.09.14  •  相談用ドラフト｜設計案：fuzzy_grasp_input_design.md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758952" cy="2377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04 / 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938528"/>
            <a:ext cx="11128248" cy="393192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011680"/>
            <a:ext cx="2212848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入力情報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2011680"/>
            <a:ext cx="1591056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取得状況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2011680"/>
            <a:ext cx="2724912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量・単位／取得元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011680"/>
            <a:ext cx="3575304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ファジィ集合と注意点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368296"/>
            <a:ext cx="11128248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468879"/>
            <a:ext cx="2212848" cy="4663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6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幅・高さ・突出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81528" y="2505456"/>
            <a:ext cx="1481328" cy="338328"/>
          </a:xfrm>
          <a:prstGeom prst="rect">
            <a:avLst/>
          </a:prstGeom>
          <a:solidFill>
            <a:srgbClr val="E1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36392" y="2542032"/>
            <a:ext cx="137160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A  出力あり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2441448"/>
            <a:ext cx="2724912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投影寸法、周辺面との距離［m］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候補summaryに出力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441448"/>
            <a:ext cx="3575304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小・適切・大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高い／大きいほど良いとは限らない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2999232"/>
            <a:ext cx="11128248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3099815"/>
            <a:ext cx="2212848" cy="4663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6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開口余裕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81528" y="3136391"/>
            <a:ext cx="1481328" cy="338328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36392" y="3172968"/>
            <a:ext cx="137160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B  加工・連携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3072384"/>
            <a:ext cx="2724912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最大開口 − 必要幅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− クリアランス［m］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072384"/>
            <a:ext cx="3575304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小・適切・十分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投影幅をそのまま必要幅にしない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3630168"/>
            <a:ext cx="11128248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730752"/>
            <a:ext cx="2212848" cy="4663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6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対向接触面の適合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81528" y="3767328"/>
            <a:ext cx="1481328" cy="338328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36392" y="3803904"/>
            <a:ext cx="137160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B  加工・連携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3703320"/>
            <a:ext cx="2724912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接触対と閉じ方向・法線の関係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GNG・曲面法線から計算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703320"/>
            <a:ext cx="3575304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低・中・高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法線だけで摩擦安定は保証できない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4261104"/>
            <a:ext cx="11128248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361688"/>
            <a:ext cx="2212848" cy="4663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6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接触奥行き・面積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81528" y="4398264"/>
            <a:ext cx="1481328" cy="338328"/>
          </a:xfrm>
          <a:prstGeom prst="rect">
            <a:avLst/>
          </a:prstGeom>
          <a:solidFill>
            <a:srgbClr val="FF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36392" y="4434840"/>
            <a:ext cx="137160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B66B10"/>
                </a:solidFill>
                <a:latin typeface="Noto Sans CJK JP"/>
              </a:defRPr>
            </a:pPr>
            <a:r>
              <a:rPr>
                <a:ea typeface="Noto Sans CJK JP"/>
              </a:rPr>
              <a:t>C  追加実装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8888" y="4334256"/>
            <a:ext cx="2724912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有効な接触長［m］・面積［m²］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ハンド形状との照合が必要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334256"/>
            <a:ext cx="3575304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不足・適切・十分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外接箱の奥行きと実接触は別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4892040"/>
            <a:ext cx="11128248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" y="4992624"/>
            <a:ext cx="2212848" cy="4663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6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重心・摩擦・材質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81528" y="5029200"/>
            <a:ext cx="1481328" cy="338328"/>
          </a:xfrm>
          <a:prstGeom prst="rect">
            <a:avLst/>
          </a:prstGeom>
          <a:solidFill>
            <a:srgbClr val="FF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36392" y="5065776"/>
            <a:ext cx="137160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B66B10"/>
                </a:solidFill>
                <a:latin typeface="Noto Sans CJK JP"/>
              </a:defRPr>
            </a:pPr>
            <a:r>
              <a:rPr>
                <a:ea typeface="Noto Sans CJK JP"/>
              </a:rPr>
              <a:t>C  追加実装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18888" y="4965192"/>
            <a:ext cx="2724912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モデル・触覚等の追加情報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点群形状だけでは確定不可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4965192"/>
            <a:ext cx="3575304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物性に応じて別途定義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初期導入では必須にしない案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" y="5751576"/>
            <a:ext cx="11128248" cy="484632"/>
          </a:xfrm>
          <a:prstGeom prst="rect">
            <a:avLst/>
          </a:prstGeom>
          <a:solidFill>
            <a:srgbClr val="FF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861304"/>
            <a:ext cx="10789920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1">
                <a:solidFill>
                  <a:srgbClr val="B66B10"/>
                </a:solidFill>
                <a:latin typeface="Noto Sans CJK JP"/>
              </a:defRPr>
            </a:pPr>
            <a:r>
              <a:rPr>
                <a:ea typeface="Noto Sans CJK JP"/>
              </a:rPr>
              <a:t>注意：現行shape_scoreは設定把持領域に対する外形面積比。形状信頼度や接触面積ではない。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5603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ToPo-FUZZY  /  ROS把持評価の設計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5394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9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入力③  無理のない姿勢・経路か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80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5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把持候補を実現する関節配置ごとに評価。配信経路と有効値の確認が必要。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19088"/>
            <a:ext cx="11128248" cy="0"/>
          </a:xfrm>
          <a:prstGeom prst="line">
            <a:avLst/>
          </a:prstGeom>
          <a:ln w="19050">
            <a:solidFill>
              <a:srgbClr val="DCE5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37960"/>
            <a:ext cx="10515600" cy="18288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85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2026.09.14  •  相談用ドラフト｜設計案：fuzzy_grasp_input_design.md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758952" cy="2377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05 / 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938528"/>
            <a:ext cx="11128248" cy="393192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011680"/>
            <a:ext cx="2212848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入力情報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2011680"/>
            <a:ext cx="1591056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取得状況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2011680"/>
            <a:ext cx="2724912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量・単位／取得元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011680"/>
            <a:ext cx="3575304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ファジィ集合と注意点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368296"/>
            <a:ext cx="11128248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468879"/>
            <a:ext cx="2212848" cy="4663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6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手先目標との誤差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81528" y="2505456"/>
            <a:ext cx="1481328" cy="338328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36392" y="2542032"/>
            <a:ext cx="137160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B  加工・連携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2441448"/>
            <a:ext cx="2724912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位置［m］・回転差［deg］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候補姿勢と実現姿勢から計算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441448"/>
            <a:ext cx="3575304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小・中・大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Z軸の方向差だけでなく姿勢を評価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2999232"/>
            <a:ext cx="11128248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3099815"/>
            <a:ext cx="2212848" cy="4663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6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位置・回転可操作性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81528" y="3136391"/>
            <a:ext cx="1481328" cy="338328"/>
          </a:xfrm>
          <a:prstGeom prst="rect">
            <a:avLst/>
          </a:prstGeom>
          <a:solidFill>
            <a:srgbClr val="E1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36392" y="3172968"/>
            <a:ext cx="137160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A  出力あり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3072384"/>
            <a:ext cx="2724912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詳細候補評価に出力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条件数などの関連情報もあり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072384"/>
            <a:ext cx="3575304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低・中・高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境界はロボットごとに設定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3630168"/>
            <a:ext cx="11128248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730752"/>
            <a:ext cx="2212848" cy="4663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6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関節限界余裕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81528" y="3767328"/>
            <a:ext cx="1481328" cy="338328"/>
          </a:xfrm>
          <a:prstGeom prst="rect">
            <a:avLst/>
          </a:prstGeom>
          <a:solidFill>
            <a:srgbClr val="E1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36392" y="3803904"/>
            <a:ext cx="137160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A  出力あり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3703320"/>
            <a:ext cx="2724912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現行ノードスコアを配信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minとmeanは同じ値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703320"/>
            <a:ext cx="3575304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小・中・大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最小／平均余裕の定義を見直す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4261104"/>
            <a:ext cx="11128248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361688"/>
            <a:ext cx="2212848" cy="4663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6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経路品質・時間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81528" y="4398264"/>
            <a:ext cx="1481328" cy="338328"/>
          </a:xfrm>
          <a:prstGeom prst="rect">
            <a:avLst/>
          </a:prstGeom>
          <a:solidFill>
            <a:srgbClr val="E1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36392" y="4434840"/>
            <a:ext cx="137160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A  出力あり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8888" y="4334256"/>
            <a:ext cx="2724912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可操作性の配列、推定時間［s］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配列の最小値集計は追加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334256"/>
            <a:ext cx="3575304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低・中・高／短・中・長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平均だけで悪い区間を隠さない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4892040"/>
            <a:ext cx="11128248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" y="4992624"/>
            <a:ext cx="2212848" cy="4663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6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障害物との距離余裕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81528" y="5029200"/>
            <a:ext cx="1481328" cy="338328"/>
          </a:xfrm>
          <a:prstGeom prst="rect">
            <a:avLst/>
          </a:prstGeom>
          <a:solidFill>
            <a:srgbClr val="FF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36392" y="5065776"/>
            <a:ext cx="1371600" cy="24688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1">
                <a:solidFill>
                  <a:srgbClr val="B66B10"/>
                </a:solidFill>
                <a:latin typeface="Noto Sans CJK JP"/>
              </a:defRPr>
            </a:pPr>
            <a:r>
              <a:rPr>
                <a:ea typeface="Noto Sans CJK JP"/>
              </a:rPr>
              <a:t>C  追加実装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18888" y="4965192"/>
            <a:ext cx="2724912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自己・環境との最短距離［m］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現在の評価値はNaN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4965192"/>
            <a:ext cx="3575304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小・適切・十分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無衝突判定と距離計算は別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" y="5751576"/>
            <a:ext cx="11128248" cy="484632"/>
          </a:xfrm>
          <a:prstGeom prst="rect">
            <a:avLst/>
          </a:prstGeom>
          <a:solidFill>
            <a:srgbClr val="FF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861304"/>
            <a:ext cx="10789920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1">
                <a:solidFill>
                  <a:srgbClr val="B66B10"/>
                </a:solidFill>
                <a:latin typeface="Noto Sans CJK JP"/>
              </a:defRPr>
            </a:pPr>
            <a:r>
              <a:rPr>
                <a:ea typeface="Noto Sans CJK JP"/>
              </a:rPr>
              <a:t>estimated_energyは関節変化量の二乗和。実消費エネルギー[J]として扱わない。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5603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ToPo-FUZZY  /  ROS把持評価の設計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5394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9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除外・保留・順位付けを混ぜない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80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5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把持品質が高くても、禁止衝突や関節限界違反を相殺しない。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19088"/>
            <a:ext cx="11128248" cy="0"/>
          </a:xfrm>
          <a:prstGeom prst="line">
            <a:avLst/>
          </a:prstGeom>
          <a:ln w="19050">
            <a:solidFill>
              <a:srgbClr val="DCE5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37960"/>
            <a:ext cx="10515600" cy="18288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85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2026.09.14  •  相談用ドラフト｜設計案：fuzzy_grasp_input_design.md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758952" cy="2377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06 / 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029968"/>
            <a:ext cx="3483864" cy="32644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2029968"/>
            <a:ext cx="3483864" cy="694944"/>
          </a:xfrm>
          <a:prstGeom prst="rect">
            <a:avLst/>
          </a:prstGeom>
          <a:solidFill>
            <a:srgbClr val="FB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21992"/>
            <a:ext cx="3154680" cy="36576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000" b="1">
                <a:solidFill>
                  <a:srgbClr val="B7494E"/>
                </a:solidFill>
                <a:latin typeface="Noto Sans CJK JP"/>
              </a:defRPr>
            </a:pPr>
            <a:r>
              <a:rPr>
                <a:ea typeface="Noto Sans CJK JP"/>
              </a:rPr>
              <a:t>除外・再探索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35224"/>
            <a:ext cx="3108960" cy="32004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成立条件への違反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493008"/>
            <a:ext cx="3108960" cy="16002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8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開口範囲外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8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関節限界外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8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禁止衝突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8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必要精度・経路の不成立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52544" y="2029968"/>
            <a:ext cx="3483864" cy="32644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2544" y="2029968"/>
            <a:ext cx="3483864" cy="694944"/>
          </a:xfrm>
          <a:prstGeom prst="rect">
            <a:avLst/>
          </a:prstGeom>
          <a:solidFill>
            <a:srgbClr val="FF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2221992"/>
            <a:ext cx="3154680" cy="36576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000" b="1">
                <a:solidFill>
                  <a:srgbClr val="B66B10"/>
                </a:solidFill>
                <a:latin typeface="Noto Sans CJK JP"/>
              </a:defRPr>
            </a:pPr>
            <a:r>
              <a:rPr>
                <a:ea typeface="Noto Sans CJK JP"/>
              </a:rPr>
              <a:t>保留・追加観測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935224"/>
            <a:ext cx="3108960" cy="32004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判断の根拠が不足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3493008"/>
            <a:ext cx="3108960" cy="16002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8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座標・時刻の不整合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8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必須領域が未観測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8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必須指標が未取得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8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到達状態がUNKNOWN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74736" y="2029968"/>
            <a:ext cx="3483864" cy="32644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74736" y="2029968"/>
            <a:ext cx="3483864" cy="694944"/>
          </a:xfrm>
          <a:prstGeom prst="rect">
            <a:avLst/>
          </a:prstGeom>
          <a:solidFill>
            <a:srgbClr val="E1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7" y="2221992"/>
            <a:ext cx="3154680" cy="36576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0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ファジィ順位付け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5" y="2935224"/>
            <a:ext cx="3108960" cy="32004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成立候補間の比較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5" y="3493008"/>
            <a:ext cx="3108960" cy="16002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8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形状の信頼度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8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接触のしやすさ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8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姿勢・障害物の余裕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8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経路品質・移動時間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5751576"/>
            <a:ext cx="11128248" cy="484632"/>
          </a:xfrm>
          <a:prstGeom prst="rect">
            <a:avLst/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861304"/>
            <a:ext cx="10789920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INSIDEはTCP位置の到達領域内という情報。姿勢・無衝突・把持成功の保証ではない。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5603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ToPo-FUZZY  /  ROS把持評価の設計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5394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9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数値を「小・適切・十分」に変換する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80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5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例：開口余裕［m］。入力は物理単位のまま、各集合への所属度を0〜1で表現。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19088"/>
            <a:ext cx="11128248" cy="0"/>
          </a:xfrm>
          <a:prstGeom prst="line">
            <a:avLst/>
          </a:prstGeom>
          <a:ln w="19050">
            <a:solidFill>
              <a:srgbClr val="DCE5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37960"/>
            <a:ext cx="10515600" cy="18288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85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2026.09.14  •  相談用ドラフト｜設計案：fuzzy_grasp_input_design.md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758952" cy="2377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07 / 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975104"/>
            <a:ext cx="6931152" cy="3538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67128"/>
            <a:ext cx="1188720" cy="32004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所属度 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24712" y="4681728"/>
            <a:ext cx="5742432" cy="0"/>
          </a:xfrm>
          <a:prstGeom prst="line">
            <a:avLst/>
          </a:prstGeom>
          <a:ln w="19050">
            <a:solidFill>
              <a:srgbClr val="6076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24712" y="2807208"/>
            <a:ext cx="0" cy="1874520"/>
          </a:xfrm>
          <a:prstGeom prst="line">
            <a:avLst/>
          </a:prstGeom>
          <a:ln w="19050">
            <a:solidFill>
              <a:srgbClr val="6076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86384" y="4572000"/>
            <a:ext cx="237744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807208"/>
            <a:ext cx="237744" cy="22860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24712" y="2916936"/>
            <a:ext cx="1033637" cy="0"/>
          </a:xfrm>
          <a:prstGeom prst="line">
            <a:avLst/>
          </a:prstGeom>
          <a:ln w="38100">
            <a:solidFill>
              <a:srgbClr val="008A8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58349" y="2916936"/>
            <a:ext cx="1378184" cy="1764792"/>
          </a:xfrm>
          <a:prstGeom prst="line">
            <a:avLst/>
          </a:prstGeom>
          <a:ln w="38100">
            <a:solidFill>
              <a:srgbClr val="008A8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560320" y="2916936"/>
            <a:ext cx="1435608" cy="1764792"/>
          </a:xfrm>
          <a:prstGeom prst="line">
            <a:avLst/>
          </a:prstGeom>
          <a:ln w="38100">
            <a:solidFill>
              <a:srgbClr val="316C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995928" y="2916936"/>
            <a:ext cx="1435608" cy="1764792"/>
          </a:xfrm>
          <a:prstGeom prst="line">
            <a:avLst/>
          </a:prstGeom>
          <a:ln w="38100">
            <a:solidFill>
              <a:srgbClr val="316C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455322" y="2916936"/>
            <a:ext cx="1378184" cy="1764792"/>
          </a:xfrm>
          <a:prstGeom prst="line">
            <a:avLst/>
          </a:prstGeom>
          <a:ln w="38100">
            <a:solidFill>
              <a:srgbClr val="B66B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833506" y="2916936"/>
            <a:ext cx="1033638" cy="0"/>
          </a:xfrm>
          <a:prstGeom prst="line">
            <a:avLst/>
          </a:prstGeom>
          <a:ln w="38100">
            <a:solidFill>
              <a:srgbClr val="B66B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499616" y="2450592"/>
            <a:ext cx="941832" cy="32004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6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小さい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8456" y="2450592"/>
            <a:ext cx="941832" cy="32004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600" b="1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適切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5312" y="2450592"/>
            <a:ext cx="941832" cy="32004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600" b="1">
                <a:solidFill>
                  <a:srgbClr val="B66B10"/>
                </a:solidFill>
                <a:latin typeface="Noto Sans CJK JP"/>
              </a:defRPr>
            </a:pPr>
            <a:r>
              <a:rPr>
                <a:ea typeface="Noto Sans CJK JP"/>
              </a:rPr>
              <a:t>十分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96312" y="4928616"/>
            <a:ext cx="3575304" cy="30175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5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小 ← 開口余裕 [m] → 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321808"/>
            <a:ext cx="4937760" cy="19202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概念図：横軸の数値境界は未定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1272" y="2194560"/>
            <a:ext cx="3593592" cy="36576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1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定義する順序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1272" y="2825496"/>
            <a:ext cx="3657600" cy="21031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6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01  測定部位・単位を固定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6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02  物理的な成立限界を決定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6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03  ラベルと重なる境界を設定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6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04  記録データで順位を検証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1272" y="4855464"/>
            <a:ext cx="3657600" cy="66751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1">
                <a:solidFill>
                  <a:srgbClr val="B66B10"/>
                </a:solidFill>
                <a:latin typeface="Noto Sans CJK JP"/>
              </a:defRPr>
            </a:pPr>
            <a:r>
              <a:rPr>
                <a:ea typeface="Noto Sans CJK JP"/>
              </a:rPr>
              <a:t>負の開口余裕はハード除外。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400" b="1">
                <a:solidFill>
                  <a:srgbClr val="B66B10"/>
                </a:solidFill>
                <a:latin typeface="Noto Sans CJK JP"/>
              </a:defRPr>
            </a:pPr>
            <a:r>
              <a:rPr>
                <a:ea typeface="Noto Sans CJK JP"/>
              </a:rPr>
              <a:t>未取得値は集合に入れない。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751576"/>
            <a:ext cx="11128248" cy="484632"/>
          </a:xfrm>
          <a:prstGeom prst="rect">
            <a:avLst/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861304"/>
            <a:ext cx="10789920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境界値はハンド寸法・計測誤差・記録データから決定。図の形をそのまま確定値にしない。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5603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ToPo-FUZZY  /  ROS把持評価の設計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5394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9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まずは少数のルールで、判断根拠を残す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80744"/>
            <a:ext cx="10972800" cy="5029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5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以下は未実装の代表例。必要な入力の整備と、メンバシップ境界の合意が先。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19088"/>
            <a:ext cx="11128248" cy="0"/>
          </a:xfrm>
          <a:prstGeom prst="line">
            <a:avLst/>
          </a:prstGeom>
          <a:ln w="19050">
            <a:solidFill>
              <a:srgbClr val="DCE5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37960"/>
            <a:ext cx="10515600" cy="18288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85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2026.09.14  •  相談用ドラフト｜設計案：fuzzy_grasp_input_design.md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758952" cy="23774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  <a:defRPr sz="10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08 / 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965960"/>
            <a:ext cx="11128248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148840"/>
            <a:ext cx="941832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7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観測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2167128"/>
            <a:ext cx="457200" cy="2743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1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5416" y="2039112"/>
            <a:ext cx="6080760" cy="54864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5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点群支持が強い AND 時間的に安定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5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AND 形状モデルの残差が小さい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12264"/>
            <a:ext cx="448056" cy="36576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2176272"/>
            <a:ext cx="2724912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7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観測信頼度が高い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670048"/>
            <a:ext cx="11128248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52928"/>
            <a:ext cx="941832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700" b="1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把持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9928" y="2871216"/>
            <a:ext cx="457200" cy="2743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1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5416" y="2743200"/>
            <a:ext cx="6080760" cy="54864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5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開口余裕が適切 AND 対向面の適合が高い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5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AND 接触奥行きが十分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816352"/>
            <a:ext cx="448056" cy="36576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1664" y="2880360"/>
            <a:ext cx="2724912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700" b="1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把持品質が高い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374136"/>
            <a:ext cx="11128248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557016"/>
            <a:ext cx="941832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700" b="1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実現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9928" y="3575304"/>
            <a:ext cx="457200" cy="2743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1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IF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85416" y="3447288"/>
            <a:ext cx="6080760" cy="54864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5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可操作性が高い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5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AND 関節限界余裕が大きい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520440"/>
            <a:ext cx="448056" cy="36576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41664" y="3584448"/>
            <a:ext cx="2724912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700" b="1">
                <a:solidFill>
                  <a:srgbClr val="316CBA"/>
                </a:solidFill>
                <a:latin typeface="Noto Sans CJK JP"/>
              </a:defRPr>
            </a:pPr>
            <a:r>
              <a:rPr>
                <a:ea typeface="Noto Sans CJK JP"/>
              </a:rPr>
              <a:t>アーム品質が高い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4078224"/>
            <a:ext cx="11128248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261104"/>
            <a:ext cx="941832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700" b="1">
                <a:solidFill>
                  <a:srgbClr val="B66B10"/>
                </a:solidFill>
                <a:latin typeface="Noto Sans CJK JP"/>
              </a:defRPr>
            </a:pPr>
            <a:r>
              <a:rPr>
                <a:ea typeface="Noto Sans CJK JP"/>
              </a:rPr>
              <a:t>判断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9928" y="4279392"/>
            <a:ext cx="457200" cy="27432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 b="1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IF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85416" y="4151376"/>
            <a:ext cx="6080760" cy="54864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5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把持品質が高い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500" b="0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AND 観測信頼度が低い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224528"/>
            <a:ext cx="448056" cy="365760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23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41664" y="4288536"/>
            <a:ext cx="2724912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700" b="1">
                <a:solidFill>
                  <a:srgbClr val="B66B10"/>
                </a:solidFill>
                <a:latin typeface="Noto Sans CJK JP"/>
              </a:defRPr>
            </a:pPr>
            <a:r>
              <a:rPr>
                <a:ea typeface="Noto Sans CJK JP"/>
              </a:rPr>
              <a:t>追加観測を優先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5093208"/>
            <a:ext cx="2514600" cy="338328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800" b="1">
                <a:solidFill>
                  <a:srgbClr val="193249"/>
                </a:solidFill>
                <a:latin typeface="Noto Sans CJK JP"/>
              </a:defRPr>
            </a:pPr>
            <a:r>
              <a:rPr>
                <a:ea typeface="Noto Sans CJK JP"/>
              </a:rPr>
              <a:t>次に決めること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80944" y="5120640"/>
            <a:ext cx="8439912" cy="347472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500" b="0">
                <a:solidFill>
                  <a:srgbClr val="60768A"/>
                </a:solidFill>
                <a:latin typeface="Noto Sans CJK JP"/>
              </a:defRPr>
            </a:pPr>
            <a:r>
              <a:rPr>
                <a:ea typeface="Noto Sans CJK JP"/>
              </a:rPr>
              <a:t>① 初期入力を選ぶ    ② 集合の境界を決める    ③ 発火・非発火と順位を検証する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352" y="5751576"/>
            <a:ext cx="11128248" cy="484632"/>
          </a:xfrm>
          <a:prstGeom prst="rect">
            <a:avLst/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5861304"/>
            <a:ext cx="10789920" cy="310896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 b="1">
                <a:solidFill>
                  <a:srgbClr val="008A87"/>
                </a:solidFill>
                <a:latin typeface="Noto Sans CJK JP"/>
              </a:defRPr>
            </a:pPr>
            <a:r>
              <a:rPr>
                <a:ea typeface="Noto Sans CJK JP"/>
              </a:rPr>
              <a:t>候補ID・入力の有効性・発火ルール・制約違反・保留理由を保存し、説明できる評価へ。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ROS把持ファジィ評価 — 入力情報とルール設計案</dc:title>
  <dc:subject>2026-09-14 相談用・未実装の設計案</dc:subject>
  <dc:creator>ToPo-FUZZY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