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詳細資料: ../FUZZY_GRASP_CURRENT_OVERVIEW.md。正確なキー・全初期値: fuzzy_grasp_current_defaults.json。GUI編集後の状態ではなくソースの初期値。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詳細資料: ../FUZZY_GRASP_CURRENT_OVERVIEW.md。正確なキー・全初期値: fuzzy_grasp_current_defaults.json。GUI編集後の状態ではなくソースの初期値。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詳細資料: ../FUZZY_GRASP_CURRENT_OVERVIEW.md。正確なキー・全初期値: fuzzy_grasp_current_defaults.json。GUI編集後の状態ではなくソースの初期値。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詳細資料: ../FUZZY_GRASP_CURRENT_OVERVIEW.md。正確なキー・全初期値: fuzzy_grasp_current_defaults.json。GUI編集後の状態ではなくソースの初期値。 持ち手固定値: ループ1、側方持ち手0.86、胴体側方X/Y0.35、上縁0.25、上部胴体0.20。衝突は占有箱と間引いた点群・GNGで評価。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詳細資料: ../FUZZY_GRASP_CURRENT_OVERVIEW.md。正確なキー・全初期値: fuzzy_grasp_current_defaults.json。GUI編集後の状態ではなくソースの初期値。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詳細資料: ../FUZZY_GRASP_CURRENT_OVERVIEW.md。正確なキー・全初期値: fuzzy_grasp_current_defaults.json。GUI編集後の状態ではなくソースの初期値。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詳細資料: ../FUZZY_GRASP_CURRENT_OVERVIEW.md。正確なキー・全初期値: fuzzy_grasp_current_defaults.json。GUI編集後の状態ではなくソースの初期値。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詳細資料: ../FUZZY_GRASP_CURRENT_OVERVIEW.md。正確なキー・全初期値: fuzzy_grasp_current_defaults.json。GUI編集後の状態ではなくソースの初期値。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詳細資料: ../FUZZY_GRASP_CURRENT_OVERVIEW.md。正確なキー・全初期値: fuzzy_grasp_current_defaults.json。GUI編集後の状態ではなくソースの初期値。 classicScore=100×(.18開口+.14奥行き+.13持手+.11密度+.15意味支持+.11衝突自由+.08高さ+.05選好+.05(1-wall))。意味支持=clamp(safe+.82unknown+.30default−.85wall,0,1)。意味不適合の減点=18×(1−意味支持)。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詳細資料: ../FUZZY_GRASP_CURRENT_OVERVIEW.md。正確なキー・全初期値: fuzzy_grasp_current_defaults.json。GUI編集後の状態ではなくソースの初期値。 出力代表値: Default0、UnknownObject30、Wall65、SafeArea100。クラスタ接続は代表値の加重平均を閾値（初期0.68）と比較。N4は無条件elseではなくSmall条件付き。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詳細資料: ../FUZZY_GRASP_CURRENT_OVERVIEW.md。正確なキー・全初期値: fuzzy_grasp_current_defaults.json。GUI編集後の状態ではなくソースの初期値。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詳細資料: ../FUZZY_GRASP_CURRENT_OVERVIEW.md。正確なキー・全初期値: fuzzy_grasp_current_defaults.json。GUI編集後の状態ではなくソースの初期値。 現行normal_similarity=clamp(abs(dot)+1,0,1)は有限内積で常に1。High(1)=0との組合せで既定接続ルールが非発火。良好側1、wall/unknown/default0の候補は全ルール非発火でもclassicScore=100。コード修正は今回の範囲外。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16C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9144000" cy="256032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0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ToPo-FUZZY  /  現行実装レビュー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064240" cy="557784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2800" b="1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現行ファジィ評価の入力・集合・ルール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80744"/>
            <a:ext cx="10972800" cy="50292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4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HTMLの試作ルールをレビューする資料。ROS側の評価処理とは分けて整理。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30352" y="6419088"/>
            <a:ext cx="11128248" cy="0"/>
          </a:xfrm>
          <a:prstGeom prst="line">
            <a:avLst/>
          </a:prstGeom>
          <a:ln w="19050">
            <a:solidFill>
              <a:srgbClr val="DCE5E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537960"/>
            <a:ext cx="10332720" cy="18288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85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HTMLソースの初期値／2026-09-14確認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90504" y="6510528"/>
            <a:ext cx="758952" cy="22860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0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01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2029968"/>
            <a:ext cx="3483864" cy="1417320"/>
          </a:xfrm>
          <a:prstGeom prst="rect">
            <a:avLst/>
          </a:prstGeom>
          <a:solidFill>
            <a:srgbClr val="12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5" y="2167128"/>
            <a:ext cx="3090672" cy="603504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37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5" y="2935224"/>
            <a:ext cx="3090672" cy="29260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400" b="0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把持用の入力特徴量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2544" y="2029968"/>
            <a:ext cx="3483864" cy="1417320"/>
          </a:xfrm>
          <a:prstGeom prst="rect">
            <a:avLst/>
          </a:prstGeom>
          <a:solidFill>
            <a:srgbClr val="12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2167128"/>
            <a:ext cx="3090672" cy="603504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37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935224"/>
            <a:ext cx="3090672" cy="29260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400" b="0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把持品質のIF–THENルール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74736" y="2029968"/>
            <a:ext cx="3483864" cy="1417320"/>
          </a:xfrm>
          <a:prstGeom prst="rect">
            <a:avLst/>
          </a:prstGeom>
          <a:solidFill>
            <a:srgbClr val="12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2167128"/>
            <a:ext cx="3090672" cy="603504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37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935224"/>
            <a:ext cx="3090672" cy="29260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400" b="0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前段の接続・意味ラベルルール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3803904"/>
            <a:ext cx="10789920" cy="41148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2100" b="1">
                <a:solidFill>
                  <a:srgbClr val="008A87"/>
                </a:solidFill>
                <a:latin typeface="Noto Sans CJK JP"/>
              </a:defRPr>
            </a:pPr>
            <a:r>
              <a:rPr>
                <a:ea typeface="Noto Sans CJK JP"/>
              </a:rPr>
              <a:t>HTML：候補生成 → ファジィ採点 → 順位付け → 最良候補へIK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" y="4526280"/>
            <a:ext cx="10789920" cy="41148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2100" b="1">
                <a:solidFill>
                  <a:srgbClr val="316CBA"/>
                </a:solidFill>
                <a:latin typeface="Noto Sans CJK JP"/>
              </a:defRPr>
            </a:pPr>
            <a:r>
              <a:rPr>
                <a:ea typeface="Noto Sans CJK JP"/>
              </a:rPr>
              <a:t>ROS：幾何候補 → 到達領域 → 関節配置GNG → 経路評価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352" y="5751576"/>
            <a:ext cx="11128248" cy="484632"/>
          </a:xfrm>
          <a:prstGeom prst="rect">
            <a:avLst/>
          </a:prstGeom>
          <a:solidFill>
            <a:srgbClr val="FF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5861304"/>
            <a:ext cx="10789920" cy="310896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400" b="1">
                <a:solidFill>
                  <a:srgbClr val="B66B10"/>
                </a:solidFill>
                <a:latin typeface="Noto Sans CJK JP"/>
              </a:defRPr>
            </a:pPr>
            <a:r>
              <a:rPr>
                <a:ea typeface="Noto Sans CJK JP"/>
              </a:rPr>
              <a:t>現行ROSの候補選択に、このHTMLルールによる採点は接続されていない。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16C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9144000" cy="256032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0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ToPo-FUZZY  /  現行実装レビュー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064240" cy="557784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2800" b="1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HTML：トポロジーから候補を作り、採点する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80744"/>
            <a:ext cx="10972800" cy="50292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4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ファジィは既存候補を評価。把持位置・姿勢を直接連続最適化する処理ではない。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30352" y="6419088"/>
            <a:ext cx="11128248" cy="0"/>
          </a:xfrm>
          <a:prstGeom prst="line">
            <a:avLst/>
          </a:prstGeom>
          <a:ln w="19050">
            <a:solidFill>
              <a:srgbClr val="DCE5E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537960"/>
            <a:ext cx="10332720" cy="18288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85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HTMLソースの初期値／2026-09-14確認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90504" y="6510528"/>
            <a:ext cx="758952" cy="22860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0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02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2029968"/>
            <a:ext cx="324612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0352" y="2029968"/>
            <a:ext cx="59436" cy="1005840"/>
          </a:xfrm>
          <a:prstGeom prst="rect">
            <a:avLst/>
          </a:prstGeom>
          <a:solidFill>
            <a:srgbClr val="008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148840"/>
            <a:ext cx="2953512" cy="356616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800" b="1">
                <a:solidFill>
                  <a:srgbClr val="008A87"/>
                </a:solidFill>
                <a:latin typeface="Noto Sans CJK JP"/>
              </a:defRPr>
            </a:pPr>
            <a:r>
              <a:rPr>
                <a:ea typeface="Noto Sans CJK JP"/>
              </a:rPr>
              <a:t>点群 → GNG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642616"/>
            <a:ext cx="2953512" cy="265176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代表ノード・近傍辺・法線／曲率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62272" y="2029968"/>
            <a:ext cx="324612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62272" y="2029968"/>
            <a:ext cx="59436" cy="1005840"/>
          </a:xfrm>
          <a:prstGeom prst="rect">
            <a:avLst/>
          </a:prstGeom>
          <a:solidFill>
            <a:srgbClr val="008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26864" y="2148840"/>
            <a:ext cx="2953512" cy="356616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800" b="1">
                <a:solidFill>
                  <a:srgbClr val="008A87"/>
                </a:solidFill>
                <a:latin typeface="Noto Sans CJK JP"/>
              </a:defRPr>
            </a:pPr>
            <a:r>
              <a:rPr>
                <a:ea typeface="Noto Sans CJK JP"/>
              </a:rPr>
              <a:t>接続・意味ラベル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6864" y="2642616"/>
            <a:ext cx="2953512" cy="265176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C1〜C2で領域、N1〜N4でラベル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94192" y="2029968"/>
            <a:ext cx="324612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94192" y="2029968"/>
            <a:ext cx="59436" cy="1005840"/>
          </a:xfrm>
          <a:prstGeom prst="rect">
            <a:avLst/>
          </a:prstGeom>
          <a:solidFill>
            <a:srgbClr val="008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58784" y="2148840"/>
            <a:ext cx="2953512" cy="356616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800" b="1">
                <a:solidFill>
                  <a:srgbClr val="008A87"/>
                </a:solidFill>
                <a:latin typeface="Noto Sans CJK JP"/>
              </a:defRPr>
            </a:pPr>
            <a:r>
              <a:rPr>
                <a:ea typeface="Noto Sans CJK JP"/>
              </a:rPr>
              <a:t>幾何学的な候補生成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58784" y="2642616"/>
            <a:ext cx="2953512" cy="265176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外接箱・側方突出部・上縁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58768" y="2304288"/>
            <a:ext cx="475488" cy="420624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2400" b="0">
                <a:solidFill>
                  <a:srgbClr val="008A87"/>
                </a:solidFill>
                <a:latin typeface="Noto Sans CJK JP"/>
              </a:defRPr>
            </a:pPr>
            <a:r>
              <a:rPr>
                <a:ea typeface="Noto Sans CJK JP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90688" y="2304288"/>
            <a:ext cx="475488" cy="420624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2400" b="0">
                <a:solidFill>
                  <a:srgbClr val="008A87"/>
                </a:solidFill>
                <a:latin typeface="Noto Sans CJK JP"/>
              </a:defRPr>
            </a:pPr>
            <a:r>
              <a:rPr>
                <a:ea typeface="Noto Sans CJK JP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3090672"/>
            <a:ext cx="548640" cy="45720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2400" b="0">
                <a:solidFill>
                  <a:srgbClr val="008A87"/>
                </a:solidFill>
                <a:latin typeface="Noto Sans CJK JP"/>
              </a:defRPr>
            </a:pPr>
            <a:r>
              <a:rPr>
                <a:ea typeface="Noto Sans CJK JP"/>
              </a:rPr>
              <a:t>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0352" y="3685032"/>
            <a:ext cx="324612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0352" y="3685032"/>
            <a:ext cx="59436" cy="1005840"/>
          </a:xfrm>
          <a:prstGeom prst="rect">
            <a:avLst/>
          </a:prstGeom>
          <a:solidFill>
            <a:srgbClr val="316C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" y="3803904"/>
            <a:ext cx="2953512" cy="356616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800" b="1">
                <a:solidFill>
                  <a:srgbClr val="316CBA"/>
                </a:solidFill>
                <a:latin typeface="Noto Sans CJK JP"/>
              </a:defRPr>
            </a:pPr>
            <a:r>
              <a:rPr>
                <a:ea typeface="Noto Sans CJK JP"/>
              </a:rPr>
              <a:t>最良候補 → IK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" y="4297680"/>
            <a:ext cx="2953512" cy="265176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全候補のIK比較後に選ぶ構成ではない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62272" y="3685032"/>
            <a:ext cx="324612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62272" y="3685032"/>
            <a:ext cx="59436" cy="1005840"/>
          </a:xfrm>
          <a:prstGeom prst="rect">
            <a:avLst/>
          </a:prstGeom>
          <a:solidFill>
            <a:srgbClr val="316C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26864" y="3803904"/>
            <a:ext cx="2953512" cy="356616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800" b="1">
                <a:solidFill>
                  <a:srgbClr val="316CBA"/>
                </a:solidFill>
                <a:latin typeface="Noto Sans CJK JP"/>
              </a:defRPr>
            </a:pPr>
            <a:r>
              <a:rPr>
                <a:ea typeface="Noto Sans CJK JP"/>
              </a:rPr>
              <a:t>除外・減点・順位付け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26864" y="4297680"/>
            <a:ext cx="2953512" cy="265176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意味ラベル適合を優先、次に点数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94192" y="3685032"/>
            <a:ext cx="324612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394192" y="3685032"/>
            <a:ext cx="59436" cy="1005840"/>
          </a:xfrm>
          <a:prstGeom prst="rect">
            <a:avLst/>
          </a:prstGeom>
          <a:solidFill>
            <a:srgbClr val="316C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58784" y="3803904"/>
            <a:ext cx="2953512" cy="356616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800" b="1">
                <a:solidFill>
                  <a:srgbClr val="316CBA"/>
                </a:solidFill>
                <a:latin typeface="Noto Sans CJK JP"/>
              </a:defRPr>
            </a:pPr>
            <a:r>
              <a:rPr>
                <a:ea typeface="Noto Sans CJK JP"/>
              </a:rPr>
              <a:t>11入力 → R1〜R12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58784" y="4297680"/>
            <a:ext cx="2953512" cy="265176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入力ごとの所属度 → 候補スコア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58768" y="3959352"/>
            <a:ext cx="475488" cy="420624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2400" b="0">
                <a:solidFill>
                  <a:srgbClr val="316CBA"/>
                </a:solidFill>
                <a:latin typeface="Noto Sans CJK JP"/>
              </a:defRPr>
            </a:pPr>
            <a:r>
              <a:rPr>
                <a:ea typeface="Noto Sans CJK JP"/>
              </a:rPr>
              <a:t>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90688" y="3959352"/>
            <a:ext cx="475488" cy="420624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2400" b="0">
                <a:solidFill>
                  <a:srgbClr val="316CBA"/>
                </a:solidFill>
                <a:latin typeface="Noto Sans CJK JP"/>
              </a:defRPr>
            </a:pPr>
            <a:r>
              <a:rPr>
                <a:ea typeface="Noto Sans CJK JP"/>
              </a:rPr>
              <a:t>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4088" y="5120640"/>
            <a:ext cx="10789920" cy="36576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5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衝突評価は元点群＋GNGノードも使用。持ち手2種・側方2種・上縁・上部の最大6種類。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0352" y="5751576"/>
            <a:ext cx="11128248" cy="484632"/>
          </a:xfrm>
          <a:prstGeom prst="rect">
            <a:avLst/>
          </a:prstGeom>
          <a:solidFill>
            <a:srgbClr val="E6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3232" y="5861304"/>
            <a:ext cx="10789920" cy="310896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400" b="1">
                <a:solidFill>
                  <a:srgbClr val="008A87"/>
                </a:solidFill>
                <a:latin typeface="Noto Sans CJK JP"/>
              </a:defRPr>
            </a:pPr>
            <a:r>
              <a:rPr>
                <a:ea typeface="Noto Sans CJK JP"/>
              </a:rPr>
              <a:t>GNGの辺：主に前段の形状推定・領域分割。候補生成：主にノード位置・ラベル・外接箱。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16C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9144000" cy="256032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0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ToPo-FUZZY  /  現行実装レビュー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064240" cy="557784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2800" b="1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ROS：環境GNGと関節配置GNGは別の役割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80744"/>
            <a:ext cx="10972800" cy="50292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4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確認したlaunch経路の接続図。全ノードの同時稼働を確認した図ではない。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30352" y="6419088"/>
            <a:ext cx="11128248" cy="0"/>
          </a:xfrm>
          <a:prstGeom prst="line">
            <a:avLst/>
          </a:prstGeom>
          <a:ln w="19050">
            <a:solidFill>
              <a:srgbClr val="DCE5E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537960"/>
            <a:ext cx="10332720" cy="18288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85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ROS候補生成・目標選択・経路計画のソース確認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90504" y="6510528"/>
            <a:ext cx="758952" cy="22860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0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03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2011680"/>
            <a:ext cx="342900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0352" y="2011680"/>
            <a:ext cx="59436" cy="1005840"/>
          </a:xfrm>
          <a:prstGeom prst="rect">
            <a:avLst/>
          </a:prstGeom>
          <a:solidFill>
            <a:srgbClr val="008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130552"/>
            <a:ext cx="3136392" cy="356616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800" b="1">
                <a:solidFill>
                  <a:srgbClr val="008A87"/>
                </a:solidFill>
                <a:latin typeface="Noto Sans CJK JP"/>
              </a:defRPr>
            </a:pPr>
            <a:r>
              <a:rPr>
                <a:ea typeface="Noto Sans CJK JP"/>
              </a:rPr>
              <a:t>環境GNG・平面クラスタ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624328"/>
            <a:ext cx="3136392" cy="265176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点群形状 → 領域・投影寸法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98848" y="2011680"/>
            <a:ext cx="342900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98848" y="2011680"/>
            <a:ext cx="59436" cy="1005840"/>
          </a:xfrm>
          <a:prstGeom prst="rect">
            <a:avLst/>
          </a:prstGeom>
          <a:solidFill>
            <a:srgbClr val="008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2130552"/>
            <a:ext cx="3136392" cy="356616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800" b="1">
                <a:solidFill>
                  <a:srgbClr val="008A87"/>
                </a:solidFill>
                <a:latin typeface="Noto Sans CJK JP"/>
              </a:defRPr>
            </a:pPr>
            <a:r>
              <a:rPr>
                <a:ea typeface="Noto Sans CJK JP"/>
              </a:rPr>
              <a:t>/grasp_pose_cands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624328"/>
            <a:ext cx="3136392" cy="265176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幾何姿勢＋面積比＋到達状態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14215" y="2286000"/>
            <a:ext cx="457200" cy="402336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2400" b="0">
                <a:solidFill>
                  <a:srgbClr val="008A87"/>
                </a:solidFill>
                <a:latin typeface="Noto Sans CJK JP"/>
              </a:defRPr>
            </a:pPr>
            <a:r>
              <a:rPr>
                <a:ea typeface="Noto Sans CJK JP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" y="3657600"/>
            <a:ext cx="342900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30352" y="3657600"/>
            <a:ext cx="59436" cy="1005840"/>
          </a:xfrm>
          <a:prstGeom prst="rect">
            <a:avLst/>
          </a:prstGeom>
          <a:solidFill>
            <a:srgbClr val="316C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" y="3776472"/>
            <a:ext cx="3136392" cy="356616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800" b="1">
                <a:solidFill>
                  <a:srgbClr val="316CBA"/>
                </a:solidFill>
                <a:latin typeface="Noto Sans CJK JP"/>
              </a:defRPr>
            </a:pPr>
            <a:r>
              <a:rPr>
                <a:ea typeface="Noto Sans CJK JP"/>
              </a:rPr>
              <a:t>ロボット関節配置GNG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" y="4270248"/>
            <a:ext cx="3136392" cy="265176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関節配置と対応TCP・配置間の辺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98848" y="3657600"/>
            <a:ext cx="342900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98848" y="3657600"/>
            <a:ext cx="59436" cy="1005840"/>
          </a:xfrm>
          <a:prstGeom prst="rect">
            <a:avLst/>
          </a:prstGeom>
          <a:solidFill>
            <a:srgbClr val="316C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3776472"/>
            <a:ext cx="3136392" cy="356616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800" b="1">
                <a:solidFill>
                  <a:srgbClr val="316CBA"/>
                </a:solidFill>
                <a:latin typeface="Noto Sans CJK JP"/>
              </a:defRPr>
            </a:pPr>
            <a:r>
              <a:rPr>
                <a:ea typeface="Noto Sans CJK JP"/>
              </a:rPr>
              <a:t>目標配置・経路の選択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4270248"/>
            <a:ext cx="3136392" cy="265176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INSIDE候補の対応付け・衝突確認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14215" y="3931920"/>
            <a:ext cx="457200" cy="402336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2400" b="0">
                <a:solidFill>
                  <a:srgbClr val="316CBA"/>
                </a:solidFill>
                <a:latin typeface="Noto Sans CJK JP"/>
              </a:defRPr>
            </a:pPr>
            <a:r>
              <a:rPr>
                <a:ea typeface="Noto Sans CJK JP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33872" y="3108960"/>
            <a:ext cx="457200" cy="402336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24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12480" y="3657600"/>
            <a:ext cx="3236976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412480" y="3657600"/>
            <a:ext cx="59436" cy="1005840"/>
          </a:xfrm>
          <a:prstGeom prst="rect">
            <a:avLst/>
          </a:prstGeom>
          <a:solidFill>
            <a:srgbClr val="316C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77072" y="3776472"/>
            <a:ext cx="2944368" cy="356616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800" b="1">
                <a:solidFill>
                  <a:srgbClr val="316CBA"/>
                </a:solidFill>
                <a:latin typeface="Noto Sans CJK JP"/>
              </a:defRPr>
            </a:pPr>
            <a:r>
              <a:rPr>
                <a:ea typeface="Noto Sans CJK JP"/>
              </a:rPr>
              <a:t>候補URDF・経路表示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77072" y="4270248"/>
            <a:ext cx="2944368" cy="265176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現行候補用launchは動作指令なし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64424" y="3931920"/>
            <a:ext cx="457200" cy="402336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2400" b="0">
                <a:solidFill>
                  <a:srgbClr val="316CBA"/>
                </a:solidFill>
                <a:latin typeface="Noto Sans CJK JP"/>
              </a:defRPr>
            </a:pPr>
            <a:r>
              <a:rPr>
                <a:ea typeface="Noto Sans CJK JP"/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22208" y="2212848"/>
            <a:ext cx="3026664" cy="73152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700" b="1">
                <a:solidFill>
                  <a:srgbClr val="B66B10"/>
                </a:solidFill>
                <a:latin typeface="Noto Sans CJK JP"/>
              </a:defRPr>
            </a:pPr>
            <a:r>
              <a:rPr>
                <a:ea typeface="Noto Sans CJK JP"/>
              </a:rPr>
              <a:t>HTML採点から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700" b="1">
                <a:solidFill>
                  <a:srgbClr val="B66B10"/>
                </a:solidFill>
                <a:latin typeface="Noto Sans CJK JP"/>
              </a:defRPr>
            </a:pPr>
            <a:r>
              <a:rPr>
                <a:ea typeface="Noto Sans CJK JP"/>
              </a:rPr>
              <a:t>ROS選択への接続なし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" y="5120640"/>
            <a:ext cx="10789920" cy="393192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4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/evaluation_metricsの受信機能はHTMLにあるが、既定12ルールはその指標を参照していない。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0352" y="5751576"/>
            <a:ext cx="11128248" cy="484632"/>
          </a:xfrm>
          <a:prstGeom prst="rect">
            <a:avLst/>
          </a:prstGeom>
          <a:solidFill>
            <a:srgbClr val="FF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3232" y="5861304"/>
            <a:ext cx="10789920" cy="310896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400" b="1">
                <a:solidFill>
                  <a:srgbClr val="B66B10"/>
                </a:solidFill>
                <a:latin typeface="Noto Sans CJK JP"/>
              </a:defRPr>
            </a:pPr>
            <a:r>
              <a:rPr>
                <a:ea typeface="Noto Sans CJK JP"/>
              </a:rPr>
              <a:t>ROSのshape_scoreは投影外形の面積比。HTMLのファジィスコアとは別。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16C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9144000" cy="256032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0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ToPo-FUZZY  /  現行実装レビュー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064240" cy="557784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2800" b="1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把持用入力 ①  幾何・設定・衝突の7項目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80744"/>
            <a:ext cx="10972800" cy="50292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4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全11入力が初期状態で有効。評価時は0〜1。以下はHTML側の計算。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30352" y="6419088"/>
            <a:ext cx="11128248" cy="0"/>
          </a:xfrm>
          <a:prstGeom prst="line">
            <a:avLst/>
          </a:prstGeom>
          <a:ln w="19050">
            <a:solidFill>
              <a:srgbClr val="DCE5E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537960"/>
            <a:ext cx="10332720" cy="18288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85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HTMLソースの初期値／2026-09-14確認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90504" y="6510528"/>
            <a:ext cx="758952" cy="22860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0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04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1975104"/>
            <a:ext cx="2852928" cy="365760"/>
          </a:xfrm>
          <a:prstGeom prst="rect">
            <a:avLst/>
          </a:prstGeom>
          <a:solidFill>
            <a:srgbClr val="12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2043684"/>
            <a:ext cx="2670048" cy="2468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キー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1975104"/>
            <a:ext cx="1572768" cy="365760"/>
          </a:xfrm>
          <a:prstGeom prst="rect">
            <a:avLst/>
          </a:prstGeom>
          <a:solidFill>
            <a:srgbClr val="12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02152" y="2043684"/>
            <a:ext cx="1389888" cy="2468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意味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1975104"/>
            <a:ext cx="6702552" cy="365760"/>
          </a:xfrm>
          <a:prstGeom prst="rect">
            <a:avLst/>
          </a:prstGeom>
          <a:solidFill>
            <a:srgbClr val="12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74920" y="2043684"/>
            <a:ext cx="6519672" cy="2468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現在の取得方法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0352" y="2377440"/>
            <a:ext cx="2852928" cy="4160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" y="2436876"/>
            <a:ext cx="2633472" cy="38404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aperture_fit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2377440"/>
            <a:ext cx="1572768" cy="4160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02152" y="2436876"/>
            <a:ext cx="1353312" cy="38404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開口適合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56048" y="2377440"/>
            <a:ext cx="6702552" cy="4160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74920" y="2436876"/>
            <a:ext cx="6483096" cy="38404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必要幅＝候補幅＋2×クリアランス。成立時0.92〜1、他0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0352" y="2825496"/>
            <a:ext cx="2852928" cy="4160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" y="2884932"/>
            <a:ext cx="2633472" cy="38404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contact_depth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83280" y="2825496"/>
            <a:ext cx="1572768" cy="4160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02152" y="2884932"/>
            <a:ext cx="1353312" cy="38404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接触奥行き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56048" y="2825496"/>
            <a:ext cx="6702552" cy="4160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74920" y="2884932"/>
            <a:ext cx="6483096" cy="38404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候補の外接箱由来の奥行き／指定奥行き。0〜1へ制限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0352" y="3273552"/>
            <a:ext cx="2852928" cy="4160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" y="3332988"/>
            <a:ext cx="2633472" cy="38404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handle_likeness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280" y="3273552"/>
            <a:ext cx="1572768" cy="4160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02152" y="3332988"/>
            <a:ext cx="1353312" cy="38404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持ち手らしさ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56048" y="3273552"/>
            <a:ext cx="6702552" cy="4160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74920" y="3332988"/>
            <a:ext cx="6483096" cy="38404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候補種別で固定：ループ1、側方持ち手0.86、胴体0.35等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0352" y="3721608"/>
            <a:ext cx="2852928" cy="4160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" y="3781044"/>
            <a:ext cx="2633472" cy="38404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topological_density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83280" y="3721608"/>
            <a:ext cx="1572768" cy="4160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02152" y="3781044"/>
            <a:ext cx="1353312" cy="38404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GNG支持量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56048" y="3721608"/>
            <a:ext cx="6702552" cy="4160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74920" y="3781044"/>
            <a:ext cx="6483096" cy="38404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箱内ノード数／max(8, 全ノード数×0.08)。0〜1へ制限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0352" y="4169664"/>
            <a:ext cx="2852928" cy="4160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9224" y="4229100"/>
            <a:ext cx="2633472" cy="38404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height_fit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383280" y="4169664"/>
            <a:ext cx="1572768" cy="4160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502152" y="4229100"/>
            <a:ext cx="1353312" cy="38404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高さ適合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56048" y="4169664"/>
            <a:ext cx="6702552" cy="4160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74920" y="4229100"/>
            <a:ext cx="6483096" cy="38404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指定高さ内は1。範囲外は境界距離0.08 mで線形減少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30352" y="4617720"/>
            <a:ext cx="2852928" cy="4160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9224" y="4677156"/>
            <a:ext cx="2633472" cy="38404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approach_preference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383280" y="4617720"/>
            <a:ext cx="1572768" cy="4160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502152" y="4677156"/>
            <a:ext cx="1353312" cy="38404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アプローチ選好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956048" y="4617720"/>
            <a:ext cx="6702552" cy="4160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074920" y="4677156"/>
            <a:ext cx="6483096" cy="38404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自動／指定方向・種別の一致は1。不一致は基本0.45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30352" y="5065776"/>
            <a:ext cx="2852928" cy="4160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9224" y="5125212"/>
            <a:ext cx="2633472" cy="38404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collision_free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383280" y="5065776"/>
            <a:ext cx="1572768" cy="4160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502152" y="5125212"/>
            <a:ext cx="1353312" cy="38404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衝突の少なさ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956048" y="5065776"/>
            <a:ext cx="6702552" cy="4160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074920" y="5125212"/>
            <a:ext cx="6483096" cy="38404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1−18×重み付き占有ヒット比率。0〜1へ制限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30352" y="5751576"/>
            <a:ext cx="11128248" cy="484632"/>
          </a:xfrm>
          <a:prstGeom prst="rect">
            <a:avLst/>
          </a:prstGeom>
          <a:solidFill>
            <a:srgbClr val="FF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13232" y="5861304"/>
            <a:ext cx="10789920" cy="310896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400" b="1">
                <a:solidFill>
                  <a:srgbClr val="B66B10"/>
                </a:solidFill>
                <a:latin typeface="Noto Sans CJK JP"/>
              </a:defRPr>
            </a:pPr>
            <a:r>
              <a:rPr>
                <a:ea typeface="Noto Sans CJK JP"/>
              </a:rPr>
              <a:t>奥行きは実接触の測定ではない。持ち手らしさは分類器の確信度ではない。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16C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9144000" cy="256032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0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ToPo-FUZZY  /  現行実装レビュー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064240" cy="557784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2800" b="1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把持用入力 ②  近傍ラベルの支持率4項目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80744"/>
            <a:ext cx="10972800" cy="50292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4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候補の外接箱を0.018 m拡張して集計。内部が4ノード未満なら最近傍最大14個を追加。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30352" y="6419088"/>
            <a:ext cx="11128248" cy="0"/>
          </a:xfrm>
          <a:prstGeom prst="line">
            <a:avLst/>
          </a:prstGeom>
          <a:ln w="19050">
            <a:solidFill>
              <a:srgbClr val="DCE5E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537960"/>
            <a:ext cx="10332720" cy="18288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85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HTMLソースの初期値／2026-09-14確認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90504" y="6510528"/>
            <a:ext cx="758952" cy="22860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0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05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1975104"/>
            <a:ext cx="2852928" cy="365760"/>
          </a:xfrm>
          <a:prstGeom prst="rect">
            <a:avLst/>
          </a:prstGeom>
          <a:solidFill>
            <a:srgbClr val="12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2043684"/>
            <a:ext cx="2670048" cy="2468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キー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1975104"/>
            <a:ext cx="2468880" cy="365760"/>
          </a:xfrm>
          <a:prstGeom prst="rect">
            <a:avLst/>
          </a:prstGeom>
          <a:solidFill>
            <a:srgbClr val="12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02152" y="2043684"/>
            <a:ext cx="2286000" cy="2468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入力値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0" y="1975104"/>
            <a:ext cx="5806440" cy="365760"/>
          </a:xfrm>
          <a:prstGeom prst="rect">
            <a:avLst/>
          </a:prstGeom>
          <a:solidFill>
            <a:srgbClr val="12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71032" y="2043684"/>
            <a:ext cx="5623559" cy="2468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ラベルの意味・注意点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0352" y="2377440"/>
            <a:ext cx="2852928" cy="5349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" y="2436876"/>
            <a:ext cx="2633472" cy="50292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4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topology_safe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2377440"/>
            <a:ext cx="2468880" cy="5349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02152" y="2436876"/>
            <a:ext cx="2249424" cy="50292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4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safeノードの割合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52160" y="2377440"/>
            <a:ext cx="5806440" cy="5349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71032" y="2436876"/>
            <a:ext cx="5586983" cy="50292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4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上向き低曲率の床・机等のラベル。把持品質では加点側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0352" y="2944368"/>
            <a:ext cx="2852928" cy="5349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" y="3003804"/>
            <a:ext cx="2633472" cy="50292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4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topology_unknown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83280" y="2944368"/>
            <a:ext cx="2468880" cy="5349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02152" y="3003804"/>
            <a:ext cx="2249424" cy="50292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4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unknownノードの割合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52160" y="2944368"/>
            <a:ext cx="5806440" cy="5349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71032" y="3003804"/>
            <a:ext cx="5586983" cy="50292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4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未知物体の意味ラベル。未観測空間の割合ではない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0352" y="3511296"/>
            <a:ext cx="2852928" cy="5349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" y="3570732"/>
            <a:ext cx="2633472" cy="50292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4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topology_wall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280" y="3511296"/>
            <a:ext cx="2468880" cy="5349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02152" y="3570732"/>
            <a:ext cx="2249424" cy="50292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4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wallノードの割合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852160" y="3511296"/>
            <a:ext cx="5806440" cy="5349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71032" y="3570732"/>
            <a:ext cx="5586983" cy="50292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4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壁ラベルの割合。品質評価では減点・Reject側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0352" y="4078224"/>
            <a:ext cx="2852928" cy="5349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" y="4137660"/>
            <a:ext cx="2633472" cy="50292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4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topology_default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83280" y="4078224"/>
            <a:ext cx="2468880" cy="5349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02152" y="4137660"/>
            <a:ext cx="2249424" cy="50292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4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defaultノードの割合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852160" y="4078224"/>
            <a:ext cx="5806440" cy="5349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71032" y="4137660"/>
            <a:ext cx="5586983" cy="50292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4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未分類ラベルの割合。センサー誤差の測定値ではない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" y="4919472"/>
            <a:ext cx="10744200" cy="36576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600" b="1">
                <a:solidFill>
                  <a:srgbClr val="008A87"/>
                </a:solidFill>
                <a:latin typeface="Noto Sans CJK JP"/>
              </a:defRPr>
            </a:pPr>
            <a:r>
              <a:rPr>
                <a:ea typeface="Noto Sans CJK JP"/>
              </a:rPr>
              <a:t>意味ラベル適合：safe ＋ 0.85×unknown ≥ 0.18  かつ  wall &lt; 0.55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" y="5358384"/>
            <a:ext cx="10744200" cy="29260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4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ラベル情報なし時は中立扱い。適合判定の通過を、スコアより先に優先して並べる。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0352" y="5751576"/>
            <a:ext cx="11128248" cy="484632"/>
          </a:xfrm>
          <a:prstGeom prst="rect">
            <a:avLst/>
          </a:prstGeom>
          <a:solidFill>
            <a:srgbClr val="FF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3232" y="5861304"/>
            <a:ext cx="10789920" cy="310896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400" b="1">
                <a:solidFill>
                  <a:srgbClr val="B66B10"/>
                </a:solidFill>
                <a:latin typeface="Noto Sans CJK JP"/>
              </a:defRPr>
            </a:pPr>
            <a:r>
              <a:rPr>
                <a:ea typeface="Noto Sans CJK JP"/>
              </a:rPr>
              <a:t>safe・unknown・defaultは意味ラベル。観測信頼度と同一視しない。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16C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9144000" cy="256032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0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ToPo-FUZZY  /  現行実装レビュー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064240" cy="557784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2800" b="1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使用するメンバシップ関数と全パラメータ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80744"/>
            <a:ext cx="10972800" cy="50292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4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共通3集合を全11特徴量へ定義。追加3集合は既定R1〜R12では未使用。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30352" y="6419088"/>
            <a:ext cx="11128248" cy="0"/>
          </a:xfrm>
          <a:prstGeom prst="line">
            <a:avLst/>
          </a:prstGeom>
          <a:ln w="19050">
            <a:solidFill>
              <a:srgbClr val="DCE5E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537960"/>
            <a:ext cx="10332720" cy="18288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85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HTMLソースの初期値／2026-09-14確認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90504" y="6510528"/>
            <a:ext cx="758952" cy="22860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0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06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1975104"/>
            <a:ext cx="3822191" cy="365760"/>
          </a:xfrm>
          <a:prstGeom prst="rect">
            <a:avLst/>
          </a:prstGeom>
          <a:solidFill>
            <a:srgbClr val="12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2043684"/>
            <a:ext cx="3639311" cy="2468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対象・言語ラベル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52544" y="1975104"/>
            <a:ext cx="1508760" cy="365760"/>
          </a:xfrm>
          <a:prstGeom prst="rect">
            <a:avLst/>
          </a:prstGeom>
          <a:solidFill>
            <a:srgbClr val="12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1416" y="2043684"/>
            <a:ext cx="1325880" cy="2468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関数形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61304" y="1975104"/>
            <a:ext cx="4206240" cy="365760"/>
          </a:xfrm>
          <a:prstGeom prst="rect">
            <a:avLst/>
          </a:prstGeom>
          <a:solidFill>
            <a:srgbClr val="12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80176" y="2043684"/>
            <a:ext cx="4023359" cy="2468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パラメータ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67544" y="1975104"/>
            <a:ext cx="1591056" cy="365760"/>
          </a:xfrm>
          <a:prstGeom prst="rect">
            <a:avLst/>
          </a:prstGeom>
          <a:solidFill>
            <a:srgbClr val="12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86416" y="2043684"/>
            <a:ext cx="1408176" cy="2468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既定ルール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352" y="2377440"/>
            <a:ext cx="3822191" cy="4343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2436876"/>
            <a:ext cx="3602735" cy="402336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全11入力：Low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52544" y="2377440"/>
            <a:ext cx="1508760" cy="4343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71416" y="2436876"/>
            <a:ext cx="1289304" cy="402336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trapezoid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61304" y="2377440"/>
            <a:ext cx="4206240" cy="4343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80176" y="2436876"/>
            <a:ext cx="3986783" cy="402336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[0, 0, 0.22, 0.42]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67544" y="2377440"/>
            <a:ext cx="1591056" cy="4343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86416" y="2436876"/>
            <a:ext cx="1371600" cy="402336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使用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0352" y="2843784"/>
            <a:ext cx="3822191" cy="4343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" y="2903220"/>
            <a:ext cx="3602735" cy="402336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全11入力：Medium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52544" y="2843784"/>
            <a:ext cx="1508760" cy="4343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71416" y="2903220"/>
            <a:ext cx="1289304" cy="402336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triangular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61304" y="2843784"/>
            <a:ext cx="4206240" cy="4343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80176" y="2903220"/>
            <a:ext cx="3986783" cy="402336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[0.25, 0.5, 0.75]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67544" y="2843784"/>
            <a:ext cx="1591056" cy="4343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86416" y="2903220"/>
            <a:ext cx="1371600" cy="402336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使用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0352" y="3310128"/>
            <a:ext cx="3822191" cy="4343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" y="3369564"/>
            <a:ext cx="3602735" cy="402336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全11入力：High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52544" y="3310128"/>
            <a:ext cx="1508760" cy="4343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71416" y="3369564"/>
            <a:ext cx="1289304" cy="402336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trapezoid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861304" y="3310128"/>
            <a:ext cx="4206240" cy="4343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80176" y="3369564"/>
            <a:ext cx="3986783" cy="402336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[0.58, 0.78, 1, 1]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067544" y="3310128"/>
            <a:ext cx="1591056" cy="4343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86416" y="3369564"/>
            <a:ext cx="1371600" cy="402336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使用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0352" y="3776472"/>
            <a:ext cx="3822191" cy="4343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" y="3835908"/>
            <a:ext cx="3602735" cy="402336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handle_likeness.Handle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52544" y="3776472"/>
            <a:ext cx="1508760" cy="4343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71416" y="3835908"/>
            <a:ext cx="1289304" cy="402336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gaussian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861304" y="3776472"/>
            <a:ext cx="4206240" cy="4343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80176" y="3835908"/>
            <a:ext cx="3986783" cy="402336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中心1.00、標準偏差0.16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067544" y="3776472"/>
            <a:ext cx="1591056" cy="4343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186416" y="3835908"/>
            <a:ext cx="1371600" cy="402336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未使用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30352" y="4242816"/>
            <a:ext cx="3822191" cy="4343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9224" y="4302252"/>
            <a:ext cx="3602735" cy="402336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topological_density.Dense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352544" y="4242816"/>
            <a:ext cx="1508760" cy="4343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471416" y="4302252"/>
            <a:ext cx="1289304" cy="402336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rbf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861304" y="4242816"/>
            <a:ext cx="4206240" cy="4343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980176" y="4302252"/>
            <a:ext cx="3986783" cy="402336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中心0.92、半径0.18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067544" y="4242816"/>
            <a:ext cx="1591056" cy="4343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186416" y="4302252"/>
            <a:ext cx="1371600" cy="402336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未使用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30352" y="4709160"/>
            <a:ext cx="3822191" cy="4343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9224" y="4768596"/>
            <a:ext cx="3602735" cy="402336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collision_free.Clean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352544" y="4709160"/>
            <a:ext cx="1508760" cy="4343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471416" y="4768596"/>
            <a:ext cx="1289304" cy="402336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trapezoid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861304" y="4709160"/>
            <a:ext cx="4206240" cy="4343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980176" y="4768596"/>
            <a:ext cx="3986783" cy="402336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[0.82, 0.94, 1, 1]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067544" y="4709160"/>
            <a:ext cx="1591056" cy="4343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186416" y="4768596"/>
            <a:ext cx="1371600" cy="402336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未使用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13232" y="5330952"/>
            <a:ext cx="10762488" cy="32004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4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Gaussian：exp(−0.5×((x−中心)/標準偏差)²)   RBF：exp(−((x−中心)/半径)²)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30352" y="5751576"/>
            <a:ext cx="11128248" cy="484632"/>
          </a:xfrm>
          <a:prstGeom prst="rect">
            <a:avLst/>
          </a:prstGeom>
          <a:solidFill>
            <a:srgbClr val="FF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13232" y="5861304"/>
            <a:ext cx="10789920" cy="310896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400" b="1">
                <a:solidFill>
                  <a:srgbClr val="B66B10"/>
                </a:solidFill>
                <a:latin typeface="Noto Sans CJK JP"/>
              </a:defRPr>
            </a:pPr>
            <a:r>
              <a:rPr>
                <a:ea typeface="Noto Sans CJK JP"/>
              </a:rPr>
              <a:t>現行実装の注意：台形の端点ガードによりLow(0)=0、High(1)=0。意図する肩型と異なる。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16C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9144000" cy="256032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0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ToPo-FUZZY  /  現行実装レビュー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064240" cy="557784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2800" b="1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把持用IF–THENルール  R1〜R6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80744"/>
            <a:ext cx="10972800" cy="50292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4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全件有効・AND結合。H=High、M=Medium、L=Low。入力名は前ページの短縮表記。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30352" y="6419088"/>
            <a:ext cx="11128248" cy="0"/>
          </a:xfrm>
          <a:prstGeom prst="line">
            <a:avLst/>
          </a:prstGeom>
          <a:ln w="19050">
            <a:solidFill>
              <a:srgbClr val="DCE5E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537960"/>
            <a:ext cx="10332720" cy="18288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85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HTMLソースの初期値／2026-09-14確認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90504" y="6510528"/>
            <a:ext cx="758952" cy="22860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0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07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1975104"/>
            <a:ext cx="731520" cy="365760"/>
          </a:xfrm>
          <a:prstGeom prst="rect">
            <a:avLst/>
          </a:prstGeom>
          <a:solidFill>
            <a:srgbClr val="12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2043684"/>
            <a:ext cx="548640" cy="2468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61872" y="1975104"/>
            <a:ext cx="7607808" cy="365760"/>
          </a:xfrm>
          <a:prstGeom prst="rect">
            <a:avLst/>
          </a:prstGeom>
          <a:solidFill>
            <a:srgbClr val="12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80743" y="2043684"/>
            <a:ext cx="7424928" cy="2468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IF（条件部）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69680" y="1975104"/>
            <a:ext cx="1719072" cy="365760"/>
          </a:xfrm>
          <a:prstGeom prst="rect">
            <a:avLst/>
          </a:prstGeom>
          <a:solidFill>
            <a:srgbClr val="12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88552" y="2043684"/>
            <a:ext cx="1536192" cy="2468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THEN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88751" y="1975104"/>
            <a:ext cx="1069848" cy="365760"/>
          </a:xfrm>
          <a:prstGeom prst="rect">
            <a:avLst/>
          </a:prstGeom>
          <a:solidFill>
            <a:srgbClr val="12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07624" y="2043684"/>
            <a:ext cx="886968" cy="2468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重み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352" y="2377440"/>
            <a:ext cx="731520" cy="50749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2436876"/>
            <a:ext cx="512064" cy="4754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R1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61872" y="2377440"/>
            <a:ext cx="7607808" cy="50749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80743" y="2436876"/>
            <a:ext cx="7388352" cy="4754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持手=H ∧ 開口=H ∧ 奥行き=H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∧ 密度=H ∧ safe=H ∧ 衝突自由=H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69680" y="2377440"/>
            <a:ext cx="1719072" cy="50749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88552" y="2436876"/>
            <a:ext cx="1499616" cy="4754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VeryHigh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588751" y="2377440"/>
            <a:ext cx="1069848" cy="50749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07624" y="2436876"/>
            <a:ext cx="850392" cy="4754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1.00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0352" y="2916936"/>
            <a:ext cx="731520" cy="50749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" y="2976372"/>
            <a:ext cx="512064" cy="4754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R2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61872" y="2916936"/>
            <a:ext cx="7607808" cy="50749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80743" y="2976372"/>
            <a:ext cx="7388352" cy="4754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unknown=H ∧ 開口=H ∧ 奥行き=M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∧ 衝突自由=H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69680" y="2916936"/>
            <a:ext cx="1719072" cy="50749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88552" y="2976372"/>
            <a:ext cx="1499616" cy="4754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High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588751" y="2916936"/>
            <a:ext cx="1069848" cy="50749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707624" y="2976372"/>
            <a:ext cx="850392" cy="4754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0.88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0352" y="3456432"/>
            <a:ext cx="731520" cy="50749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" y="3515868"/>
            <a:ext cx="512064" cy="4754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R3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61872" y="3456432"/>
            <a:ext cx="7607808" cy="50749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80743" y="3515868"/>
            <a:ext cx="7388352" cy="4754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開口=H ∧ 奥行き=H ∧ 密度=H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∧ 高さ=H ∧ safe=M ∧ 衝突自由=H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69680" y="3456432"/>
            <a:ext cx="1719072" cy="50749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88552" y="3515868"/>
            <a:ext cx="1499616" cy="4754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High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588751" y="3456432"/>
            <a:ext cx="1069848" cy="50749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707624" y="3515868"/>
            <a:ext cx="850392" cy="4754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0.86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0352" y="3995928"/>
            <a:ext cx="731520" cy="50749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" y="4055364"/>
            <a:ext cx="512064" cy="4754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R4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261872" y="3995928"/>
            <a:ext cx="7607808" cy="50749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380743" y="4055364"/>
            <a:ext cx="7388352" cy="4754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開口=H ∧ 奥行き=M ∧ 高さ=H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∧ wall=L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869680" y="3995928"/>
            <a:ext cx="1719072" cy="50749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88552" y="4055364"/>
            <a:ext cx="1499616" cy="4754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Medium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588751" y="3995928"/>
            <a:ext cx="1069848" cy="50749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707624" y="4055364"/>
            <a:ext cx="850392" cy="4754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0.70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30352" y="4535424"/>
            <a:ext cx="731520" cy="50749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9224" y="4594860"/>
            <a:ext cx="512064" cy="4754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R5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261872" y="4535424"/>
            <a:ext cx="7607808" cy="50749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380743" y="4594860"/>
            <a:ext cx="7388352" cy="4754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開口=L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869680" y="4535424"/>
            <a:ext cx="1719072" cy="50749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988552" y="4594860"/>
            <a:ext cx="1499616" cy="4754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Reject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588751" y="4535424"/>
            <a:ext cx="1069848" cy="50749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707624" y="4594860"/>
            <a:ext cx="850392" cy="4754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1.00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30352" y="5074920"/>
            <a:ext cx="731520" cy="50749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9224" y="5134356"/>
            <a:ext cx="512064" cy="4754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R6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261872" y="5074920"/>
            <a:ext cx="7607808" cy="50749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380743" y="5134356"/>
            <a:ext cx="7388352" cy="4754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奥行き=L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869680" y="5074920"/>
            <a:ext cx="1719072" cy="50749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988552" y="5134356"/>
            <a:ext cx="1499616" cy="4754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Low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588751" y="5074920"/>
            <a:ext cx="1069848" cy="50749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707624" y="5134356"/>
            <a:ext cx="850392" cy="4754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0.85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30352" y="5751576"/>
            <a:ext cx="11128248" cy="484632"/>
          </a:xfrm>
          <a:prstGeom prst="rect">
            <a:avLst/>
          </a:prstGeom>
          <a:solidFill>
            <a:srgbClr val="FF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13232" y="5861304"/>
            <a:ext cx="10789920" cy="310896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400" b="1">
                <a:solidFill>
                  <a:srgbClr val="B66B10"/>
                </a:solidFill>
                <a:latin typeface="Noto Sans CJK JP"/>
              </a:defRPr>
            </a:pPr>
            <a:r>
              <a:rPr>
                <a:ea typeface="Noto Sans CJK JP"/>
              </a:rPr>
              <a:t>Rejectは出力代表値5のラベル。発火だけで候補を必ず除外するわけではない。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16C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9144000" cy="256032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0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ToPo-FUZZY  /  現行実装レビュー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064240" cy="557784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2800" b="1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把持用IF–THENルール  R7〜R12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80744"/>
            <a:ext cx="10972800" cy="50292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4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全件有効・AND結合。H=High、M=Medium、L=Low。入力名は前ページの短縮表記。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30352" y="6419088"/>
            <a:ext cx="11128248" cy="0"/>
          </a:xfrm>
          <a:prstGeom prst="line">
            <a:avLst/>
          </a:prstGeom>
          <a:ln w="19050">
            <a:solidFill>
              <a:srgbClr val="DCE5E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537960"/>
            <a:ext cx="10332720" cy="18288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85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HTMLソースの初期値／2026-09-14確認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90504" y="6510528"/>
            <a:ext cx="758952" cy="22860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0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08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1975104"/>
            <a:ext cx="731520" cy="365760"/>
          </a:xfrm>
          <a:prstGeom prst="rect">
            <a:avLst/>
          </a:prstGeom>
          <a:solidFill>
            <a:srgbClr val="12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2043684"/>
            <a:ext cx="548640" cy="2468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61872" y="1975104"/>
            <a:ext cx="7607808" cy="365760"/>
          </a:xfrm>
          <a:prstGeom prst="rect">
            <a:avLst/>
          </a:prstGeom>
          <a:solidFill>
            <a:srgbClr val="12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80743" y="2043684"/>
            <a:ext cx="7424928" cy="2468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IF（条件部）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69680" y="1975104"/>
            <a:ext cx="1719072" cy="365760"/>
          </a:xfrm>
          <a:prstGeom prst="rect">
            <a:avLst/>
          </a:prstGeom>
          <a:solidFill>
            <a:srgbClr val="12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88552" y="2043684"/>
            <a:ext cx="1536192" cy="2468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THEN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88751" y="1975104"/>
            <a:ext cx="1069848" cy="365760"/>
          </a:xfrm>
          <a:prstGeom prst="rect">
            <a:avLst/>
          </a:prstGeom>
          <a:solidFill>
            <a:srgbClr val="12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07624" y="2043684"/>
            <a:ext cx="886968" cy="2468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重み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352" y="2377440"/>
            <a:ext cx="731520" cy="50749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2436876"/>
            <a:ext cx="512064" cy="4754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R7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61872" y="2377440"/>
            <a:ext cx="7607808" cy="50749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80743" y="2436876"/>
            <a:ext cx="7388352" cy="4754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密度=L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69680" y="2377440"/>
            <a:ext cx="1719072" cy="50749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88552" y="2436876"/>
            <a:ext cx="1499616" cy="4754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Low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588751" y="2377440"/>
            <a:ext cx="1069848" cy="50749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07624" y="2436876"/>
            <a:ext cx="850392" cy="4754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0.68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0352" y="2916936"/>
            <a:ext cx="731520" cy="50749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" y="2976372"/>
            <a:ext cx="512064" cy="4754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R8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61872" y="2916936"/>
            <a:ext cx="7607808" cy="50749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80743" y="2976372"/>
            <a:ext cx="7388352" cy="4754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高さ=L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69680" y="2916936"/>
            <a:ext cx="1719072" cy="50749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88552" y="2976372"/>
            <a:ext cx="1499616" cy="4754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Reject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588751" y="2916936"/>
            <a:ext cx="1069848" cy="50749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707624" y="2976372"/>
            <a:ext cx="850392" cy="4754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0.85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0352" y="3456432"/>
            <a:ext cx="731520" cy="50749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" y="3515868"/>
            <a:ext cx="512064" cy="4754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R9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61872" y="3456432"/>
            <a:ext cx="7607808" cy="50749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80743" y="3515868"/>
            <a:ext cx="7388352" cy="4754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選好=H ∧ 開口=H ∧ 衝突自由=M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69680" y="3456432"/>
            <a:ext cx="1719072" cy="50749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88552" y="3515868"/>
            <a:ext cx="1499616" cy="4754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High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588751" y="3456432"/>
            <a:ext cx="1069848" cy="50749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707624" y="3515868"/>
            <a:ext cx="850392" cy="4754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0.58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0352" y="3995928"/>
            <a:ext cx="731520" cy="50749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" y="4055364"/>
            <a:ext cx="512064" cy="4754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R10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261872" y="3995928"/>
            <a:ext cx="7607808" cy="50749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380743" y="4055364"/>
            <a:ext cx="7388352" cy="4754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wall=H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869680" y="3995928"/>
            <a:ext cx="1719072" cy="50749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88552" y="4055364"/>
            <a:ext cx="1499616" cy="4754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Reject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588751" y="3995928"/>
            <a:ext cx="1069848" cy="50749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707624" y="4055364"/>
            <a:ext cx="850392" cy="4754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1.00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30352" y="4535424"/>
            <a:ext cx="731520" cy="50749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9224" y="4594860"/>
            <a:ext cx="512064" cy="4754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R11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261872" y="4535424"/>
            <a:ext cx="7607808" cy="50749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380743" y="4594860"/>
            <a:ext cx="7388352" cy="4754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衝突自由=L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869680" y="4535424"/>
            <a:ext cx="1719072" cy="50749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988552" y="4594860"/>
            <a:ext cx="1499616" cy="4754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Reject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588751" y="4535424"/>
            <a:ext cx="1069848" cy="50749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707624" y="4594860"/>
            <a:ext cx="850392" cy="4754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1.00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30352" y="5074920"/>
            <a:ext cx="731520" cy="50749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9224" y="5134356"/>
            <a:ext cx="512064" cy="4754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R12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261872" y="5074920"/>
            <a:ext cx="7607808" cy="50749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380743" y="5134356"/>
            <a:ext cx="7388352" cy="4754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default=H ∧ safe=L ∧ unknown=L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869680" y="5074920"/>
            <a:ext cx="1719072" cy="50749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988552" y="5134356"/>
            <a:ext cx="1499616" cy="4754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Low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588751" y="5074920"/>
            <a:ext cx="1069848" cy="50749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707624" y="5134356"/>
            <a:ext cx="850392" cy="4754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0.72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30352" y="5751576"/>
            <a:ext cx="11128248" cy="484632"/>
          </a:xfrm>
          <a:prstGeom prst="rect">
            <a:avLst/>
          </a:prstGeom>
          <a:solidFill>
            <a:srgbClr val="FF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13232" y="5861304"/>
            <a:ext cx="10789920" cy="310896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400" b="1">
                <a:solidFill>
                  <a:srgbClr val="B66B10"/>
                </a:solidFill>
                <a:latin typeface="Noto Sans CJK JP"/>
              </a:defRPr>
            </a:pPr>
            <a:r>
              <a:rPr>
                <a:ea typeface="Noto Sans CJK JP"/>
              </a:rPr>
              <a:t>Rejectは出力代表値5のラベル。発火だけで候補を必ず除外するわけではない。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16C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9144000" cy="256032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0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ToPo-FUZZY  /  現行実装レビュー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064240" cy="557784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2800" b="1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ルールの合成と、最終スコアの作り方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80744"/>
            <a:ext cx="10972800" cy="50292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4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単一代表値の加重平均。出力集合の面積重心を計算する一般的なMamdani方式とは異なる。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30352" y="6419088"/>
            <a:ext cx="11128248" cy="0"/>
          </a:xfrm>
          <a:prstGeom prst="line">
            <a:avLst/>
          </a:prstGeom>
          <a:ln w="19050">
            <a:solidFill>
              <a:srgbClr val="DCE5E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537960"/>
            <a:ext cx="10332720" cy="18288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85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HTMLソースの初期値／2026-09-14確認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90504" y="6510528"/>
            <a:ext cx="758952" cy="22860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0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09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1993392"/>
            <a:ext cx="11128248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103120"/>
            <a:ext cx="457200" cy="329184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2200" b="1">
                <a:solidFill>
                  <a:srgbClr val="008A87"/>
                </a:solidFill>
                <a:latin typeface="Noto Sans CJK JP"/>
              </a:defRPr>
            </a:pPr>
            <a:r>
              <a:rPr>
                <a:ea typeface="Noto Sans CJK JP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71016" y="2066544"/>
            <a:ext cx="6035040" cy="448056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700" b="1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各条件の所属度 → AND=min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70648" y="2066544"/>
            <a:ext cx="3977639" cy="50292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2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OR=maxも実装。既定12ルールにはOR・NOTなし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" y="2670048"/>
            <a:ext cx="11128248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779776"/>
            <a:ext cx="457200" cy="329184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2200" b="1">
                <a:solidFill>
                  <a:srgbClr val="008A87"/>
                </a:solidFill>
                <a:latin typeface="Noto Sans CJK JP"/>
              </a:defRPr>
            </a:pPr>
            <a:r>
              <a:rPr>
                <a:ea typeface="Noto Sans CJK JP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71016" y="2743200"/>
            <a:ext cx="6035040" cy="448056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700" b="1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発火度＝min(条件適合度, 重み)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70648" y="2743200"/>
            <a:ext cx="3977639" cy="50292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2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把持用の既定含意は重みの乗算ではない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352" y="3346704"/>
            <a:ext cx="11128248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3456432"/>
            <a:ext cx="457200" cy="329184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2200" b="1">
                <a:solidFill>
                  <a:srgbClr val="008A87"/>
                </a:solidFill>
                <a:latin typeface="Noto Sans CJK JP"/>
              </a:defRPr>
            </a:pPr>
            <a:r>
              <a:rPr>
                <a:ea typeface="Noto Sans CJK JP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71016" y="3419856"/>
            <a:ext cx="6035040" cy="448056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700" b="1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同じ出力ラベルをmax集約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70648" y="3419856"/>
            <a:ext cx="3977639" cy="50292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2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Reject=5、Low=28、Medium=55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2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High=78、VeryHigh=96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0352" y="4023360"/>
            <a:ext cx="11128248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4133088"/>
            <a:ext cx="457200" cy="329184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2200" b="1">
                <a:solidFill>
                  <a:srgbClr val="008A87"/>
                </a:solidFill>
                <a:latin typeface="Noto Sans CJK JP"/>
              </a:defRPr>
            </a:pPr>
            <a:r>
              <a:rPr>
                <a:ea typeface="Noto Sans CJK JP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71016" y="4096512"/>
            <a:ext cx="6035040" cy="448056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700" b="1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Σ(出力発火度×代表値)／Σ(出力発火度)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70648" y="4096512"/>
            <a:ext cx="3977639" cy="50292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2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全ルール非発火ならclassicScoreの固定加重和へ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0352" y="4700016"/>
            <a:ext cx="11128248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4809744"/>
            <a:ext cx="457200" cy="329184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2200" b="1">
                <a:solidFill>
                  <a:srgbClr val="008A87"/>
                </a:solidFill>
                <a:latin typeface="Noto Sans CJK JP"/>
              </a:defRPr>
            </a:pPr>
            <a:r>
              <a:rPr>
                <a:ea typeface="Noto Sans CJK JP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71016" y="4773168"/>
            <a:ext cx="6035040" cy="448056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700" b="1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ハード除外 → 減点 → 順位付け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0648" y="4773168"/>
            <a:ext cx="3977639" cy="50292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2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意味ラベル適合が先、次に点数。最良候補へIK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0352" y="5751576"/>
            <a:ext cx="11128248" cy="484632"/>
          </a:xfrm>
          <a:prstGeom prst="rect">
            <a:avLst/>
          </a:prstGeom>
          <a:solidFill>
            <a:srgbClr val="E6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" y="5861304"/>
            <a:ext cx="10789920" cy="310896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400" b="1">
                <a:solidFill>
                  <a:srgbClr val="008A87"/>
                </a:solidFill>
                <a:latin typeface="Noto Sans CJK JP"/>
              </a:defRPr>
            </a:pPr>
            <a:r>
              <a:rPr>
                <a:ea typeface="Noto Sans CJK JP"/>
              </a:rPr>
              <a:t>最終点＝ファジィ点−意味ラベル減点−0.20×衝突減点。開口・有効な衝突判定は別の除外処理。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16C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9144000" cy="256032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0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ToPo-FUZZY  /  現行実装レビュー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064240" cy="557784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2800" b="1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前段にも別のファジィルールがある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80744"/>
            <a:ext cx="10972800" cy="50292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4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クラスタ用2件＋意味ラベル用4件。ROS平面クラスタのルールではなく、HTML側の処理。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30352" y="6419088"/>
            <a:ext cx="11128248" cy="0"/>
          </a:xfrm>
          <a:prstGeom prst="line">
            <a:avLst/>
          </a:prstGeom>
          <a:ln w="19050">
            <a:solidFill>
              <a:srgbClr val="DCE5E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537960"/>
            <a:ext cx="10332720" cy="18288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85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HTMLソースの初期値／2026-09-14確認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90504" y="6510528"/>
            <a:ext cx="758952" cy="22860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0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10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1975104"/>
            <a:ext cx="731520" cy="365760"/>
          </a:xfrm>
          <a:prstGeom prst="rect">
            <a:avLst/>
          </a:prstGeom>
          <a:solidFill>
            <a:srgbClr val="12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2043684"/>
            <a:ext cx="548640" cy="2468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61872" y="1975104"/>
            <a:ext cx="7040880" cy="365760"/>
          </a:xfrm>
          <a:prstGeom prst="rect">
            <a:avLst/>
          </a:prstGeom>
          <a:solidFill>
            <a:srgbClr val="12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80743" y="2043684"/>
            <a:ext cx="6858000" cy="2468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IF（条件部）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02752" y="1975104"/>
            <a:ext cx="2286000" cy="365760"/>
          </a:xfrm>
          <a:prstGeom prst="rect">
            <a:avLst/>
          </a:prstGeom>
          <a:solidFill>
            <a:srgbClr val="12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21624" y="2043684"/>
            <a:ext cx="2103120" cy="2468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THEN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88752" y="1975104"/>
            <a:ext cx="1069848" cy="365760"/>
          </a:xfrm>
          <a:prstGeom prst="rect">
            <a:avLst/>
          </a:prstGeom>
          <a:solidFill>
            <a:srgbClr val="12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07624" y="2043684"/>
            <a:ext cx="886968" cy="2468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重み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352" y="2377440"/>
            <a:ext cx="731520" cy="50749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2436876"/>
            <a:ext cx="512064" cy="4754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C1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61872" y="2377440"/>
            <a:ext cx="7040880" cy="50749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80743" y="2436876"/>
            <a:ext cx="6821424" cy="4754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法線類似=High ∧ 曲率類似=High ∧ 辺長適合=Short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02752" y="2377440"/>
            <a:ext cx="2286000" cy="50749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21624" y="2436876"/>
            <a:ext cx="2066543" cy="4754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Connect：1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588752" y="2377440"/>
            <a:ext cx="1069848" cy="50749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07624" y="2436876"/>
            <a:ext cx="850392" cy="4754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1.00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0352" y="2916936"/>
            <a:ext cx="731520" cy="50749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" y="2976372"/>
            <a:ext cx="512064" cy="4754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C2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61872" y="2916936"/>
            <a:ext cx="7040880" cy="50749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80743" y="2976372"/>
            <a:ext cx="6821424" cy="4754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法線類似=Low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02752" y="2916936"/>
            <a:ext cx="2286000" cy="50749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21624" y="2976372"/>
            <a:ext cx="2066543" cy="4754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Reject：0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588752" y="2916936"/>
            <a:ext cx="1069848" cy="50749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707624" y="2976372"/>
            <a:ext cx="850392" cy="4754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1.00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0352" y="3456432"/>
            <a:ext cx="731520" cy="50749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" y="3515868"/>
            <a:ext cx="512064" cy="4754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N1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61872" y="3456432"/>
            <a:ext cx="7040880" cy="50749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80743" y="3515868"/>
            <a:ext cx="6821424" cy="4754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上向き法線=High ∧ 曲率=Low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02752" y="3456432"/>
            <a:ext cx="2286000" cy="50749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21624" y="3515868"/>
            <a:ext cx="2066543" cy="4754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SafeArea：safe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588752" y="3456432"/>
            <a:ext cx="1069848" cy="50749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707624" y="3515868"/>
            <a:ext cx="850392" cy="4754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1.00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0352" y="3995928"/>
            <a:ext cx="731520" cy="50749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" y="4055364"/>
            <a:ext cx="512064" cy="4754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N2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261872" y="3995928"/>
            <a:ext cx="7040880" cy="50749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380743" y="4055364"/>
            <a:ext cx="6821424" cy="4754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水平法線=High ∧ 曲率=Low ∧ 領域サイズ=Large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∧ 近傍法線類似=High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02752" y="3995928"/>
            <a:ext cx="2286000" cy="50749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21624" y="4055364"/>
            <a:ext cx="2066543" cy="4754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Wall：wall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588752" y="3995928"/>
            <a:ext cx="1069848" cy="50749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707624" y="4055364"/>
            <a:ext cx="850392" cy="4754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1.00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30352" y="4535424"/>
            <a:ext cx="731520" cy="50749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9224" y="4594860"/>
            <a:ext cx="512064" cy="4754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N3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261872" y="4535424"/>
            <a:ext cx="7040880" cy="50749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380743" y="4594860"/>
            <a:ext cx="6821424" cy="4754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曲率=High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302752" y="4535424"/>
            <a:ext cx="2286000" cy="50749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421624" y="4594860"/>
            <a:ext cx="2066543" cy="4754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UnknownObject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588752" y="4535424"/>
            <a:ext cx="1069848" cy="50749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707624" y="4594860"/>
            <a:ext cx="850392" cy="4754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1.00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30352" y="5074920"/>
            <a:ext cx="731520" cy="50749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9224" y="5134356"/>
            <a:ext cx="512064" cy="4754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N4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261872" y="5074920"/>
            <a:ext cx="7040880" cy="50749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380743" y="5134356"/>
            <a:ext cx="6821424" cy="4754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領域サイズ=Small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302752" y="5074920"/>
            <a:ext cx="2286000" cy="50749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421624" y="5134356"/>
            <a:ext cx="2066543" cy="4754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Default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588752" y="5074920"/>
            <a:ext cx="1069848" cy="50749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707624" y="5134356"/>
            <a:ext cx="850392" cy="4754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0.45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30352" y="5751576"/>
            <a:ext cx="11128248" cy="484632"/>
          </a:xfrm>
          <a:prstGeom prst="rect">
            <a:avLst/>
          </a:prstGeom>
          <a:solidFill>
            <a:srgbClr val="E6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13232" y="5861304"/>
            <a:ext cx="10789920" cy="310896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400" b="1">
                <a:solidFill>
                  <a:srgbClr val="008A87"/>
                </a:solidFill>
                <a:latin typeface="Noto Sans CJK JP"/>
              </a:defRPr>
            </a:pPr>
            <a:r>
              <a:rPr>
                <a:ea typeface="Noto Sans CJK JP"/>
              </a:rPr>
              <a:t>前段の汎用評価器はAND=min、適合度×重み、同じ出力をmax集約。ノードは最大発火ラベル。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16C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9144000" cy="256032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0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ToPo-FUZZY  /  現行実装レビュー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064240" cy="557784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2800" b="1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前段8入力のメンバシップ関数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80744"/>
            <a:ext cx="10972800" cy="50292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4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すべて台形[a,b,c,d]。入力値域は0〜1。略記せずソース初期値を掲載。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30352" y="6419088"/>
            <a:ext cx="11128248" cy="0"/>
          </a:xfrm>
          <a:prstGeom prst="line">
            <a:avLst/>
          </a:prstGeom>
          <a:ln w="19050">
            <a:solidFill>
              <a:srgbClr val="DCE5E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537960"/>
            <a:ext cx="10332720" cy="18288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85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HTMLソースの初期値／2026-09-14確認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90504" y="6510528"/>
            <a:ext cx="758952" cy="22860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0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11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1975104"/>
            <a:ext cx="594360" cy="365760"/>
          </a:xfrm>
          <a:prstGeom prst="rect">
            <a:avLst/>
          </a:prstGeom>
          <a:solidFill>
            <a:srgbClr val="12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2043684"/>
            <a:ext cx="411480" cy="2468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系統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24712" y="1975104"/>
            <a:ext cx="3246120" cy="365760"/>
          </a:xfrm>
          <a:prstGeom prst="rect">
            <a:avLst/>
          </a:prstGeom>
          <a:solidFill>
            <a:srgbClr val="12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3584" y="2043684"/>
            <a:ext cx="3063239" cy="2468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入力キー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70831" y="1975104"/>
            <a:ext cx="3630168" cy="365760"/>
          </a:xfrm>
          <a:prstGeom prst="rect">
            <a:avLst/>
          </a:prstGeom>
          <a:solidFill>
            <a:srgbClr val="12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9703" y="2043684"/>
            <a:ext cx="3447288" cy="2468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集合①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1000" y="1975104"/>
            <a:ext cx="3657600" cy="365760"/>
          </a:xfrm>
          <a:prstGeom prst="rect">
            <a:avLst/>
          </a:prstGeom>
          <a:solidFill>
            <a:srgbClr val="12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19872" y="2043684"/>
            <a:ext cx="3474720" cy="2468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集合②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352" y="2377440"/>
            <a:ext cx="594360" cy="3611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2436876"/>
            <a:ext cx="374904" cy="329184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2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24712" y="2377440"/>
            <a:ext cx="3246120" cy="3611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43584" y="2436876"/>
            <a:ext cx="3026663" cy="329184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2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normal_similarity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70831" y="2377440"/>
            <a:ext cx="3630168" cy="3611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9703" y="2436876"/>
            <a:ext cx="3410712" cy="329184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2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Low [0, 0, 0.45, 0.65]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1000" y="2377440"/>
            <a:ext cx="3657600" cy="3611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19872" y="2436876"/>
            <a:ext cx="3438144" cy="329184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2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High [0.62, 0.82, 1, 1]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0352" y="2770632"/>
            <a:ext cx="594360" cy="3611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" y="2830068"/>
            <a:ext cx="374904" cy="329184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2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24712" y="2770632"/>
            <a:ext cx="3246120" cy="3611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43584" y="2830068"/>
            <a:ext cx="3026663" cy="329184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2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curvature_similarity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70831" y="2770632"/>
            <a:ext cx="3630168" cy="3611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89703" y="2830068"/>
            <a:ext cx="3410712" cy="329184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2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Low [0, 0, 0.35, 0.55]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01000" y="2770632"/>
            <a:ext cx="3657600" cy="3611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19872" y="2830068"/>
            <a:ext cx="3438144" cy="329184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2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High [0.5, 0.75, 1, 1]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0352" y="3163824"/>
            <a:ext cx="594360" cy="3611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" y="3223260"/>
            <a:ext cx="374904" cy="329184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2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24712" y="3163824"/>
            <a:ext cx="3246120" cy="3611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43584" y="3223260"/>
            <a:ext cx="3026663" cy="329184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2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edge_length_fit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70831" y="3163824"/>
            <a:ext cx="3630168" cy="3611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89703" y="3223260"/>
            <a:ext cx="3410712" cy="329184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2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Short [0.55, 0.75, 1, 1]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01000" y="3163824"/>
            <a:ext cx="3657600" cy="3611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19872" y="3223260"/>
            <a:ext cx="3438144" cy="329184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2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Long [0, 0, 0.35, 0.55]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0352" y="3557016"/>
            <a:ext cx="594360" cy="3611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" y="3616452"/>
            <a:ext cx="374904" cy="329184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2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24712" y="3557016"/>
            <a:ext cx="3246120" cy="3611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243584" y="3616452"/>
            <a:ext cx="3026663" cy="329184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2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normal_up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70831" y="3557016"/>
            <a:ext cx="3630168" cy="3611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89703" y="3616452"/>
            <a:ext cx="3410712" cy="329184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2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Low [0, 0, 0.35, 0.55]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01000" y="3557016"/>
            <a:ext cx="3657600" cy="3611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119872" y="3616452"/>
            <a:ext cx="3438144" cy="329184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2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High [0.7, 0.88, 1, 1]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30352" y="3950208"/>
            <a:ext cx="594360" cy="3611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9224" y="4009644"/>
            <a:ext cx="374904" cy="329184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2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124712" y="3950208"/>
            <a:ext cx="3246120" cy="3611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243584" y="4009644"/>
            <a:ext cx="3026663" cy="329184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2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normal_horizontal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70831" y="3950208"/>
            <a:ext cx="3630168" cy="3611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489703" y="4009644"/>
            <a:ext cx="3410712" cy="329184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2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Low [0, 0, 0.35, 0.55]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001000" y="3950208"/>
            <a:ext cx="3657600" cy="3611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119872" y="4009644"/>
            <a:ext cx="3438144" cy="329184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2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High [0.62, 0.82, 1, 1]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30352" y="4343400"/>
            <a:ext cx="594360" cy="3611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9224" y="4402836"/>
            <a:ext cx="374904" cy="329184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2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124712" y="4343400"/>
            <a:ext cx="3246120" cy="3611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243584" y="4402836"/>
            <a:ext cx="3026663" cy="329184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2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curvature_high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370831" y="4343400"/>
            <a:ext cx="3630168" cy="3611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489703" y="4402836"/>
            <a:ext cx="3410712" cy="329184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2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Low [0, 0, 0.18, 0.38]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001000" y="4343400"/>
            <a:ext cx="3657600" cy="3611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119872" y="4402836"/>
            <a:ext cx="3438144" cy="329184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2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High [0.38, 0.62, 1, 1]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30352" y="4736592"/>
            <a:ext cx="594360" cy="3611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9224" y="4796028"/>
            <a:ext cx="374904" cy="329184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2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124712" y="4736592"/>
            <a:ext cx="3246120" cy="3611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243584" y="4796028"/>
            <a:ext cx="3026663" cy="329184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2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region_size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370831" y="4736592"/>
            <a:ext cx="3630168" cy="3611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489703" y="4796028"/>
            <a:ext cx="3410712" cy="329184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2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Small [0, 0, 0.2, 0.42]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001000" y="4736592"/>
            <a:ext cx="3657600" cy="3611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119872" y="4796028"/>
            <a:ext cx="3438144" cy="329184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2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Large [0.35, 0.6, 1, 1]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30352" y="5129783"/>
            <a:ext cx="594360" cy="3611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49224" y="5189220"/>
            <a:ext cx="374904" cy="329184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2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N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124712" y="5129783"/>
            <a:ext cx="3246120" cy="3611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243584" y="5189220"/>
            <a:ext cx="3026663" cy="329184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2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neighbor_normal_similarity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370831" y="5129783"/>
            <a:ext cx="3630168" cy="3611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489703" y="5189220"/>
            <a:ext cx="3410712" cy="329184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2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Low [0, 0, 0.45, 0.65]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001000" y="5129783"/>
            <a:ext cx="3657600" cy="3611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119872" y="5189220"/>
            <a:ext cx="3438144" cy="329184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2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High [0.6, 0.82, 1, 1]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30352" y="5751576"/>
            <a:ext cx="11128248" cy="484632"/>
          </a:xfrm>
          <a:prstGeom prst="rect">
            <a:avLst/>
          </a:prstGeom>
          <a:solidFill>
            <a:srgbClr val="E6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13232" y="5861304"/>
            <a:ext cx="10789920" cy="310896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400" b="1">
                <a:solidFill>
                  <a:srgbClr val="008A87"/>
                </a:solidFill>
                <a:latin typeface="Noto Sans CJK JP"/>
              </a:defRPr>
            </a:pPr>
            <a:r>
              <a:rPr>
                <a:ea typeface="Noto Sans CJK JP"/>
              </a:rPr>
              <a:t>正確な条件キー・出力・関数定義は添付JSONに収録。HTMLから初期モデルを自動抽出。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16C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9144000" cy="256032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0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ToPo-FUZZY  /  現行実装レビュー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064240" cy="557784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2800" b="1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助言をいただきたい点：修正と設計を分ける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80744"/>
            <a:ext cx="10972800" cy="50292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4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点数が高いことと、意図したファジィルールが発火していることは別。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30352" y="6419088"/>
            <a:ext cx="11128248" cy="0"/>
          </a:xfrm>
          <a:prstGeom prst="line">
            <a:avLst/>
          </a:prstGeom>
          <a:ln w="19050">
            <a:solidFill>
              <a:srgbClr val="DCE5E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537960"/>
            <a:ext cx="10332720" cy="18288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85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HTMLソースの初期値／2026-09-14確認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90504" y="6510528"/>
            <a:ext cx="758952" cy="22860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0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12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2002536"/>
            <a:ext cx="5422392" cy="32278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5" y="2194560"/>
            <a:ext cx="5020056" cy="438912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2300" b="1">
                <a:solidFill>
                  <a:srgbClr val="B7494E"/>
                </a:solidFill>
                <a:latin typeface="Noto Sans CJK JP"/>
              </a:defRPr>
            </a:pPr>
            <a:r>
              <a:rPr>
                <a:ea typeface="Noto Sans CJK JP"/>
              </a:rPr>
              <a:t>実装上の修正点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5" y="2880360"/>
            <a:ext cx="5020056" cy="219456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7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台形の端点で所属度が0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7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→ 0・1入力の発火を修正／検証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700" b="0">
                <a:solidFill>
                  <a:srgbClr val="193249"/>
                </a:solidFill>
                <a:latin typeface="Noto Sans CJK JP"/>
              </a:defRPr>
            </a:pPr>
          </a:p>
          <a:p>
            <a:pPr>
              <a:lnSpc>
                <a:spcPct val="112000"/>
              </a:lnSpc>
              <a:spcAft>
                <a:spcPts val="600"/>
              </a:spcAft>
              <a:defRPr sz="17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クラスタ法線類似度が常に1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7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→ 計算式の修正／領域分割の検証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6208" y="2002536"/>
            <a:ext cx="5422392" cy="32278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2194560"/>
            <a:ext cx="5020056" cy="438912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2300" b="1">
                <a:solidFill>
                  <a:srgbClr val="316CBA"/>
                </a:solidFill>
                <a:latin typeface="Noto Sans CJK JP"/>
              </a:defRPr>
            </a:pPr>
            <a:r>
              <a:rPr>
                <a:ea typeface="Noto Sans CJK JP"/>
              </a:rPr>
              <a:t>今後のルール設計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2880360"/>
            <a:ext cx="5020056" cy="219456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7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固定の持手値・外接箱奥行き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7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→ 根拠のある接触特徴へ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700" b="0">
                <a:solidFill>
                  <a:srgbClr val="193249"/>
                </a:solidFill>
                <a:latin typeface="Noto Sans CJK JP"/>
              </a:defRPr>
            </a:pPr>
          </a:p>
          <a:p>
            <a:pPr>
              <a:lnSpc>
                <a:spcPct val="112000"/>
              </a:lnSpc>
              <a:spcAft>
                <a:spcPts val="600"/>
              </a:spcAft>
              <a:defRPr sz="17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safeと観測信頼度の混同を回避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7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→ 物体品質・信頼度・実現性を分離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0352" y="5751576"/>
            <a:ext cx="11128248" cy="484632"/>
          </a:xfrm>
          <a:prstGeom prst="rect">
            <a:avLst/>
          </a:prstGeom>
          <a:solidFill>
            <a:srgbClr val="E6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5861304"/>
            <a:ext cx="10789920" cy="310896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400" b="1">
                <a:solidFill>
                  <a:srgbClr val="008A87"/>
                </a:solidFill>
                <a:latin typeface="Noto Sans CJK JP"/>
              </a:defRPr>
            </a:pPr>
            <a:r>
              <a:rPr>
                <a:ea typeface="Noto Sans CJK JP"/>
              </a:rPr>
              <a:t>本資料は現行の初期値。実験・ブラウザー編集後のモデルはJSONを保存して、別途照合する。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現行ファジィ把持評価 — 入力・集合・全ルール・処理フロー</dc:title>
  <dc:subject>HTMLソースの初期値とROSの接続状況。2026-09-14確認。</dc:subject>
  <dc:creator>ToPo-FUZZY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